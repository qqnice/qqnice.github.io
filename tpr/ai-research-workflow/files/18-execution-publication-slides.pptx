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64"/>
  </p:normalViewPr>
  <p:slideViewPr>
    <p:cSldViewPr snapToGrid="0">
      <p:cViewPr varScale="1">
        <p:scale>
          <a:sx n="112" d="100"/>
          <a:sy n="112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簡報接續前半場的研究發想與計畫撰寫，處理計畫通過後的執行、資料處理、結案與投稿。一般論文寫作技巧不在本場範圍。來源：AI協助研究的工作流_執行階段與文章發表講義_v1.md。圖像沿用前一份圖文版簡報的視覺素材，以維持系列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本場假設聽眾已熟悉前半場的 PAVET 與先行／延遲介入設計。先說明範圍，避免把這一場誤認為一般論文寫作課。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講義明確區分四類陳述。凡標示待核者，正式投影或寫入文件前必須重新查原始來源。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這四項是講義第一章的核心批判。目的不是否定講者經驗，而是把容易誤解的口語建議改成可檢核的執行原則。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 18 週延遲介入設計為底。週次是建議，不是規定。成果報告重過程與完整性，期刊稿重論證與目標讀者。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開學前準備。資料開始蒐集前，把倫理、同意、測量與工具固定下來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不要把某校的月初收件窗口當成所有學校的規定。講者只講原則，各校程序請聽眾自行查核。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備案的效力與適用範圍不能自行推定。若資料已蒐集才處理，作者須承擔投稿風險。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講義建議若資料會交給雲端 AI，同意書應明說。這是合理推論，正式文本仍需依本校審查要求。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週次與前半場手冊一致，屬建議而非規定。完整 18 週中，第 6–18 週為全班實施與形成性資料蒐集。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研究工具可以由 AI 協助起草，但效度責任仍由研究者承擔。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資料夾與記錄表延續前半場手冊。備份規則至少包括唯讀原始檔、分析複本與異地備份。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執行紀錄與資料處理。當場記、固定格式、留時間戳，AI 不補寫未曾發生的內容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講義第四章定義了最低記錄項目。分組紀錄另保存先行／延遲組代碼與分組方式。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教育部教學實踐研究計畫作業要點 113.7.30 修正：計畫變更或延長須經學校辦理；延長以一次為限，原則半年。簽約文件可能另有條件。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錄音前確認同意與設備，錄音中記錄座位與輪替，轉寫後抽樣核對。講義建議抽樣 10–20%，但明確標示為講者建議，不是標準。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來源：WhisperX 官方專案頁。官方列出重疊說話與分離準確度限制。Mandarin／台語／中英夾雜的實際準確度待講者以自己的錄音試測。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先用假資料完成測試，再處理真實資料。不要只看搜尋排名或 README 的宣稱。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自架伺服器的網址與安全設定屬講者資料，不寫入公開講義。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建議寫法：以人工編碼為主，AI 作為第二編碼者，差異由研究者回原文裁決。Cohen's kappa 等一致性統計的適用條件仍待核。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方法與因果論述。把設計限制寫清楚，以與預測一致的證據回應研究問題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這項設計提供與預測一致的時間序列證據，但不能據此宣稱完成強因果推論。跨年比較另受世代、課程變動與教師經驗影響。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講義第六章建議以支持與一致表述，不使用證明與導致。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依前半場手冊，小樣本不應只追求 p 值。避免選擇性呈現。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教師兼研究者常成為審查提問。正式寫法需回到實際程序與本校倫理要求。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各規範的正式出處與最新版須講者補查後再放入正式投影片。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結案、成果報告與寫作。同一組資料服務不同讀者，但成果報告與期刊稿不要混成一份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來源：教育部教學實踐研究計畫作業要點，113.7.30 修正。經費、逾期與管理費處理另見原條文。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成果報告重過程，期刊稿重論證。不要把中文版成果報告逐句翻成英文稿。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成果報告公開後，期刊可能視為先前發表或高度相似。正式判斷以目標刊政策為準。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寫作與執行同步，可降低事後回憶造成的方法缺漏。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這張圖用來強調分流，而非把兩份文件視為互相排斥。資料與圖表可共用，寫作目的與篇幅不同。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投稿、AI 揭露與修訂。選刊看範圍與政策，AI 協助需留下用途、版本與人工裁決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Notion 是工具選擇，不是研究規範。重點是欄位能推動下一個行動。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退稿後 7 日是講義建議，非期刊規定。審查等待時間以各期刊官網為準。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不要只靠期刊印象或內部消息。每一項都保存原頁面與查核日期。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來源：國北教大期刊官網與國科會人文社會科學 TSSCI 教育學門核心期刊名單 2024.05.28 更新。正式使用前重新查核。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講義未提供 desk rejection 的統計比例。列出的原因為合理推論，不應在台上說成普遍比率。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來源：https://www.springernature.com/gp/editors/resources-tools/transfer-desk 與 https://www.nature.com/nature-portfolio/for-authors/transfer。具體條件以轉投通知與目標刊規定為準。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揭露原則不以『用了哪個 AI』單一判定，而要看用途與目標刊政策。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來源：Nature Portfolio Artificial Intelligence policy。講義中的揭露聲明是教學範本，不是官方固定格式。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第二模型輸出四欄：原文主張、現有證據、風險、需人工核對。批判者必須拿到原文與來源包，不只拿摘要。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任何示範都不使用真實受試者資料或審查中稿件。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不要把講者電腦路徑、帳號、Token 或內網設定包進公開附件。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引用三層查核包括存在性、書目正確與原文主張。回覆內容由作者負責。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這張作為離場清單，可請聽眾圈選自己目前所在的時點。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完整待補清單另包括外掛安裝與操作文件。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收束時請每位聽眾說出一個下一步，並指明完成時間與可檢查的成果。修訂是進入下一輪的訊號，此句屬講者經驗，不提供普遍比例。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A77D588-8FA4-4EF7-81A2-06F658267A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219700" cy="685800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669C2B-37EA-44D5-B658-C4F56E63E72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AI 協助研究的工作流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8B4E7B-2A42-4D0A-A4BC-5EB26389D94F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4095750" cy="1371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執行階段與</a:t>
            </a:r>
          </a:p>
          <a:p>
            <a:pPr algn="l"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文章發表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B77C34-118B-41B4-9AE2-536F259DD49B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90525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rPr>
              <a:t>從開學前準備、執行紀錄、資料分析，到結案、投稿與修訂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214D9B-703D-4ADE-B5E0-1DE8FB281C3B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39052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D7DE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D7DEE2"/>
                </a:solidFill>
                <a:latin typeface="Arial Unicode MS"/>
                <a:ea typeface="Arial Unicode MS"/>
                <a:cs typeface="Arial Unicode MS"/>
              </a:rPr>
              <a:t>對象｜教學實踐研究計畫已通過之教師</a:t>
            </a:r>
          </a:p>
          <a:p>
            <a:pPr algn="l">
              <a:defRPr sz="1125" b="0">
                <a:solidFill>
                  <a:srgbClr val="D7DE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D7DEE2"/>
                </a:solidFill>
                <a:latin typeface="Arial Unicode MS"/>
                <a:ea typeface="Arial Unicode MS"/>
                <a:cs typeface="Arial Unicode MS"/>
              </a:rPr>
              <a:t>講者｜資訊管理系 林文彥</a:t>
            </a:r>
          </a:p>
          <a:p>
            <a:pPr algn="l">
              <a:defRPr sz="1125" b="0">
                <a:solidFill>
                  <a:srgbClr val="D7DEE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D7DEE2"/>
                </a:solidFill>
                <a:latin typeface="Arial Unicode MS"/>
                <a:ea typeface="Arial Unicode MS"/>
                <a:cs typeface="Arial Unicode MS"/>
              </a:rPr>
              <a:t>版本｜v1 · 2026.10.03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EB85BA-BF58-40D7-9329-9AF87191CDF3}"/>
              </a:ext>
            </a:extLst>
          </p:cNvPr>
          <p:cNvSpPr>
            <a:spLocks noGrp="1"/>
          </p:cNvSpPr>
          <p:nvPr/>
        </p:nvSpPr>
        <p:spPr>
          <a:xfrm>
            <a:off x="4629150" y="64198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4001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163AC1E-E16B-4134-B528-616CCE3A2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9E3D02-FA98-4193-98F0-7CCD48675824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開場與範圍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2F9BF3-8EF8-453B-89B3-BB5F1B635311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這一場處理計畫通過之後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F01A22B1-1FB1-4657-B819-DD5EEDD95058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8D5107-919A-469B-B8D2-EB9CE4FDDC20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1E8AB0-BACE-4F39-8663-D31062F6EC8C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本場聚焦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443430-D00E-494A-8900-BC0A730D63D1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本場不處理</a:t>
            </a:r>
          </a:p>
        </p:txBody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B1899081-EF3E-4EF9-846D-041B1BEE2FF3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BE3687-CDE3-48B3-A3B7-A1536626F3FD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開學前文件與工具準備</a:t>
            </a:r>
          </a:p>
          <a:p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執行紀錄、訪談與資料安全</a:t>
            </a:r>
          </a:p>
          <a:p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結案、成果報告、投稿與修訂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C94428-54CB-4F63-98A0-A0F67F5ECA9A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一般論文寫作技巧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各校</a:t>
            </a:r>
            <a:r>
              <a:rPr sz="2400" dirty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 IRB </a:t>
            </a: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的細部規則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75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任何期刊的錄取保證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550680-BB29-4854-B94B-201A0DA5278C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E6F0F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27FF9E-482F-4A51-923C-CF7BDE4DBAA9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F6782B-9970-4208-8E3A-AF2B8AA47097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對象：已通過教學實踐研究計畫、進入執行與投稿階段的大專教師</a:t>
            </a:r>
          </a:p>
        </p:txBody>
      </p:sp>
    </p:spTree>
    <p:extLst>
      <p:ext uri="{BB962C8B-B14F-4D97-AF65-F5344CB8AC3E}">
        <p14:creationId xmlns:p14="http://schemas.microsoft.com/office/powerpoint/2010/main" val="34310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F9147C6-0296-4694-878C-56FA6E6682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F66CF12-7593-4F4D-A53C-FBFC8B91FA8E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開場與範圍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159655-0BB6-4270-82E8-1CDF98022CCF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四種陳述狀態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DE2E732F-C749-4FD5-96C4-DE9933D26A56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678002-F01C-4DA9-9D43-15737532105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EF2A2F-90C9-4786-93DF-08222C644371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1695450" cy="552450"/>
          </a:xfrm>
          <a:prstGeom prst="rect">
            <a:avLst/>
          </a:prstGeom>
          <a:solidFill>
            <a:srgbClr val="E4F2E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2064DB-6AD5-4A0A-B146-C359A085978F}"/>
              </a:ext>
            </a:extLst>
          </p:cNvPr>
          <p:cNvSpPr>
            <a:spLocks noGrp="1"/>
          </p:cNvSpPr>
          <p:nvPr/>
        </p:nvSpPr>
        <p:spPr>
          <a:xfrm>
            <a:off x="876300" y="1971675"/>
            <a:ext cx="1543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已查證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EDE3CD-8D87-4B9D-8DAC-565865548F0A}"/>
              </a:ext>
            </a:extLst>
          </p:cNvPr>
          <p:cNvSpPr>
            <a:spLocks noGrp="1"/>
          </p:cNvSpPr>
          <p:nvPr/>
        </p:nvSpPr>
        <p:spPr>
          <a:xfrm>
            <a:off x="2914650" y="1933575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已回到官方頁面或原始資料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36AA2D-8290-4DE7-AB0D-450A87B409EF}"/>
              </a:ext>
            </a:extLst>
          </p:cNvPr>
          <p:cNvSpPr>
            <a:spLocks noGrp="1"/>
          </p:cNvSpPr>
          <p:nvPr/>
        </p:nvSpPr>
        <p:spPr>
          <a:xfrm>
            <a:off x="800100" y="2762250"/>
            <a:ext cx="1695450" cy="552450"/>
          </a:xfrm>
          <a:prstGeom prst="rect">
            <a:avLst/>
          </a:prstGeom>
          <a:solidFill>
            <a:srgbClr val="F8EED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ABEEB0-4177-41B6-9D02-F562A408B078}"/>
              </a:ext>
            </a:extLst>
          </p:cNvPr>
          <p:cNvSpPr>
            <a:spLocks noGrp="1"/>
          </p:cNvSpPr>
          <p:nvPr/>
        </p:nvSpPr>
        <p:spPr>
          <a:xfrm>
            <a:off x="876300" y="2924175"/>
            <a:ext cx="1543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待核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C3EAE9-624C-4D27-8653-9F410F2BD685}"/>
              </a:ext>
            </a:extLst>
          </p:cNvPr>
          <p:cNvSpPr>
            <a:spLocks noGrp="1"/>
          </p:cNvSpPr>
          <p:nvPr/>
        </p:nvSpPr>
        <p:spPr>
          <a:xfrm>
            <a:off x="2914650" y="2886075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正式使用前仍須核對來源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E7DA5D-518E-4433-BCC8-E8E1A322F286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1695450" cy="552450"/>
          </a:xfrm>
          <a:prstGeom prst="rect">
            <a:avLst/>
          </a:prstGeom>
          <a:solidFill>
            <a:srgbClr val="E6F0F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E34E40C-1E77-44AC-B454-B7589ECC3A87}"/>
              </a:ext>
            </a:extLst>
          </p:cNvPr>
          <p:cNvSpPr>
            <a:spLocks noGrp="1"/>
          </p:cNvSpPr>
          <p:nvPr/>
        </p:nvSpPr>
        <p:spPr>
          <a:xfrm>
            <a:off x="876300" y="3876675"/>
            <a:ext cx="1543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講者經驗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666B729-E1D2-48AB-8DCF-2FC573D94808}"/>
              </a:ext>
            </a:extLst>
          </p:cNvPr>
          <p:cNvSpPr>
            <a:spLocks noGrp="1"/>
          </p:cNvSpPr>
          <p:nvPr/>
        </p:nvSpPr>
        <p:spPr>
          <a:xfrm>
            <a:off x="2914650" y="3838575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個人操作經驗，不代表普遍規範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09332F-B6BF-4E51-BADA-251EE871C1B2}"/>
              </a:ext>
            </a:extLst>
          </p:cNvPr>
          <p:cNvSpPr>
            <a:spLocks noGrp="1"/>
          </p:cNvSpPr>
          <p:nvPr/>
        </p:nvSpPr>
        <p:spPr>
          <a:xfrm>
            <a:off x="800100" y="4667250"/>
            <a:ext cx="1695450" cy="5524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73906F-7209-40CD-9B10-BADAD00CE249}"/>
              </a:ext>
            </a:extLst>
          </p:cNvPr>
          <p:cNvSpPr>
            <a:spLocks noGrp="1"/>
          </p:cNvSpPr>
          <p:nvPr/>
        </p:nvSpPr>
        <p:spPr>
          <a:xfrm>
            <a:off x="876300" y="4829175"/>
            <a:ext cx="1543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C135BC-BD2D-4E99-A0C9-0411D1D54736}"/>
              </a:ext>
            </a:extLst>
          </p:cNvPr>
          <p:cNvSpPr>
            <a:spLocks noGrp="1"/>
          </p:cNvSpPr>
          <p:nvPr/>
        </p:nvSpPr>
        <p:spPr>
          <a:xfrm>
            <a:off x="2914650" y="4791075"/>
            <a:ext cx="7810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有理由但缺直接規範或統計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343403-BD1C-41E2-8249-C53A0B12177C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32DEDBB-F6D6-43D1-A776-2D908B551F94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D3CF17-B1B4-4F9B-B05D-7DBE21C904DB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投影片上的狀態標示是證據界線，不是裝飾</a:t>
            </a:r>
          </a:p>
        </p:txBody>
      </p:sp>
    </p:spTree>
    <p:extLst>
      <p:ext uri="{BB962C8B-B14F-4D97-AF65-F5344CB8AC3E}">
        <p14:creationId xmlns:p14="http://schemas.microsoft.com/office/powerpoint/2010/main" val="76350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D094E72-5075-4589-850F-0C3CF7085C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800D0B-BD41-4106-B20F-8212FB07BA35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開場與範圍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01A5E8-ADFD-4630-ABD8-228C71148B99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講者筆記需要修正的四個高風險點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F4134225-D348-4F32-A541-670653589029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DCC925-85DA-445F-AB13-11EF273A0C14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62E397-6958-4DEB-B0F1-3A729918CBD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2C7AB8-A18E-459B-8C94-2744C8EFC57B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graphicFrame>
        <p:nvGraphicFramePr>
          <p:cNvPr id="16" name="表格 15"/>
          <p:cNvGraphicFramePr/>
          <p:nvPr>
            <p:extLst>
              <p:ext uri="{D42A27DB-BD31-4B8C-83A1-F6EECF244321}">
                <p14:modId xmlns:p14="http://schemas.microsoft.com/office/powerpoint/2010/main" val="1155417323"/>
              </p:ext>
            </p:extLst>
          </p:nvPr>
        </p:nvGraphicFramePr>
        <p:xfrm>
          <a:off x="628650" y="1714500"/>
          <a:ext cx="10896600" cy="371475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原說法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主要風險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改寫原則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IRB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難過再走備案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容易被理解為事後補救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資料蒐集前取得審查結果或書面備案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AI 可完成編碼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缺少人工複核與一致性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人工為主，AI 當第二編碼者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中文版直接翻成英文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期刊定位與篇幅不同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依目標刊重新組織英文稿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AI 用得比揭露多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可能違反投稿政策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先讀政策，依用途判斷並保存紀錄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710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0DA3B71-A62B-4F24-BCB8-2EEC3E4F4F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F40688-4559-4B10-A5B9-F62D6C99A7B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開場與範圍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32FE2D-8FDB-44C4-A9E7-9929EF1B9415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計畫通過後的全程時間線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198BB8C0-CA7A-4752-98DC-B49C0CF38716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303844-F0A0-4758-883F-BAEB42493C7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4D5E52E2-C0FE-4000-AEEE-3F36FB6D7638}"/>
              </a:ext>
            </a:extLst>
          </p:cNvPr>
          <p:cNvSpPr>
            <a:spLocks noGrp="1"/>
          </p:cNvSpPr>
          <p:nvPr/>
        </p:nvSpPr>
        <p:spPr>
          <a:xfrm>
            <a:off x="1123950" y="3238500"/>
            <a:ext cx="9620250" cy="9525"/>
          </a:xfrm>
          <a:prstGeom prst="line">
            <a:avLst/>
          </a:prstGeom>
          <a:noFill/>
          <a:ln w="38100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019876F-403A-4D20-8738-E3F32CD0E17A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514350" cy="5143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61DC07-F429-4A5E-9D94-1E4D8A0B14A7}"/>
              </a:ext>
            </a:extLst>
          </p:cNvPr>
          <p:cNvSpPr>
            <a:spLocks noGrp="1"/>
          </p:cNvSpPr>
          <p:nvPr/>
        </p:nvSpPr>
        <p:spPr>
          <a:xfrm>
            <a:off x="876300" y="313372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57B6E7-0138-4EA1-9FDB-FA860AAAAE30}"/>
              </a:ext>
            </a:extLst>
          </p:cNvPr>
          <p:cNvSpPr>
            <a:spLocks noGrp="1"/>
          </p:cNvSpPr>
          <p:nvPr/>
        </p:nvSpPr>
        <p:spPr>
          <a:xfrm>
            <a:off x="419100" y="2247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開學前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608D69E-3D38-4B87-8D14-EA21F312953E}"/>
              </a:ext>
            </a:extLst>
          </p:cNvPr>
          <p:cNvSpPr>
            <a:spLocks noGrp="1"/>
          </p:cNvSpPr>
          <p:nvPr/>
        </p:nvSpPr>
        <p:spPr>
          <a:xfrm>
            <a:off x="133350" y="3733800"/>
            <a:ext cx="2000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倫理、同意、工具預試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F332C18-BBF4-457C-81EA-7E4DA1FC7057}"/>
              </a:ext>
            </a:extLst>
          </p:cNvPr>
          <p:cNvSpPr>
            <a:spLocks noGrp="1"/>
          </p:cNvSpPr>
          <p:nvPr/>
        </p:nvSpPr>
        <p:spPr>
          <a:xfrm>
            <a:off x="3162300" y="2990850"/>
            <a:ext cx="514350" cy="5143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FBD285-6195-49E3-965F-F7DE414B35D3}"/>
              </a:ext>
            </a:extLst>
          </p:cNvPr>
          <p:cNvSpPr>
            <a:spLocks noGrp="1"/>
          </p:cNvSpPr>
          <p:nvPr/>
        </p:nvSpPr>
        <p:spPr>
          <a:xfrm>
            <a:off x="3162300" y="313372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65A1AB-7EDE-4060-9B2D-83D79345F00F}"/>
              </a:ext>
            </a:extLst>
          </p:cNvPr>
          <p:cNvSpPr>
            <a:spLocks noGrp="1"/>
          </p:cNvSpPr>
          <p:nvPr/>
        </p:nvSpPr>
        <p:spPr>
          <a:xfrm>
            <a:off x="2705100" y="2247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第 1–5 週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C04B7A-ADCF-4536-874B-F69D57F8D4B5}"/>
              </a:ext>
            </a:extLst>
          </p:cNvPr>
          <p:cNvSpPr>
            <a:spLocks noGrp="1"/>
          </p:cNvSpPr>
          <p:nvPr/>
        </p:nvSpPr>
        <p:spPr>
          <a:xfrm>
            <a:off x="2419350" y="3733800"/>
            <a:ext cx="2000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基線、先行組、近遷移與延宕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ECA22DA5-0A12-4DBB-9792-2E27C3816038}"/>
              </a:ext>
            </a:extLst>
          </p:cNvPr>
          <p:cNvSpPr>
            <a:spLocks noGrp="1"/>
          </p:cNvSpPr>
          <p:nvPr/>
        </p:nvSpPr>
        <p:spPr>
          <a:xfrm>
            <a:off x="5448300" y="2990850"/>
            <a:ext cx="514350" cy="5143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E86D1A-55D8-47A2-A25D-311592571B11}"/>
              </a:ext>
            </a:extLst>
          </p:cNvPr>
          <p:cNvSpPr>
            <a:spLocks noGrp="1"/>
          </p:cNvSpPr>
          <p:nvPr/>
        </p:nvSpPr>
        <p:spPr>
          <a:xfrm>
            <a:off x="5448300" y="313372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30B2361-D40E-4E3A-8328-7BC0D36675BF}"/>
              </a:ext>
            </a:extLst>
          </p:cNvPr>
          <p:cNvSpPr>
            <a:spLocks noGrp="1"/>
          </p:cNvSpPr>
          <p:nvPr/>
        </p:nvSpPr>
        <p:spPr>
          <a:xfrm>
            <a:off x="4991100" y="2247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第 6–18 週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89CE81F-8DF6-431D-8A44-5A1E795B8201}"/>
              </a:ext>
            </a:extLst>
          </p:cNvPr>
          <p:cNvSpPr>
            <a:spLocks noGrp="1"/>
          </p:cNvSpPr>
          <p:nvPr/>
        </p:nvSpPr>
        <p:spPr>
          <a:xfrm>
            <a:off x="4705350" y="3733800"/>
            <a:ext cx="2000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全班實施、日誌與形成性資料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28F924EA-3F2D-4D25-AB12-1E36B1123E58}"/>
              </a:ext>
            </a:extLst>
          </p:cNvPr>
          <p:cNvSpPr>
            <a:spLocks noGrp="1"/>
          </p:cNvSpPr>
          <p:nvPr/>
        </p:nvSpPr>
        <p:spPr>
          <a:xfrm>
            <a:off x="7734300" y="2990850"/>
            <a:ext cx="514350" cy="5143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D5CC7F-E911-4B8C-9DEE-7FB26CD04F7E}"/>
              </a:ext>
            </a:extLst>
          </p:cNvPr>
          <p:cNvSpPr>
            <a:spLocks noGrp="1"/>
          </p:cNvSpPr>
          <p:nvPr/>
        </p:nvSpPr>
        <p:spPr>
          <a:xfrm>
            <a:off x="7734300" y="313372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06D89F-DD54-4323-B719-2F2E87E7909A}"/>
              </a:ext>
            </a:extLst>
          </p:cNvPr>
          <p:cNvSpPr>
            <a:spLocks noGrp="1"/>
          </p:cNvSpPr>
          <p:nvPr/>
        </p:nvSpPr>
        <p:spPr>
          <a:xfrm>
            <a:off x="7277100" y="2247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結束後 1–2 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3DE835-8561-4A44-8D06-76E9091B2F85}"/>
              </a:ext>
            </a:extLst>
          </p:cNvPr>
          <p:cNvSpPr>
            <a:spLocks noGrp="1"/>
          </p:cNvSpPr>
          <p:nvPr/>
        </p:nvSpPr>
        <p:spPr>
          <a:xfrm>
            <a:off x="6991350" y="3733800"/>
            <a:ext cx="2000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整理、分析與結案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53CABA69-A48B-461B-8AC6-23589530CDB2}"/>
              </a:ext>
            </a:extLst>
          </p:cNvPr>
          <p:cNvSpPr>
            <a:spLocks noGrp="1"/>
          </p:cNvSpPr>
          <p:nvPr/>
        </p:nvSpPr>
        <p:spPr>
          <a:xfrm>
            <a:off x="10020300" y="2990850"/>
            <a:ext cx="514350" cy="5143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4FB4EF9-9780-4699-8D51-61BAF761A521}"/>
              </a:ext>
            </a:extLst>
          </p:cNvPr>
          <p:cNvSpPr>
            <a:spLocks noGrp="1"/>
          </p:cNvSpPr>
          <p:nvPr/>
        </p:nvSpPr>
        <p:spPr>
          <a:xfrm>
            <a:off x="10020300" y="3133725"/>
            <a:ext cx="5143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0934CA-DBA1-42BE-8C3B-09E5475C9952}"/>
              </a:ext>
            </a:extLst>
          </p:cNvPr>
          <p:cNvSpPr>
            <a:spLocks noGrp="1"/>
          </p:cNvSpPr>
          <p:nvPr/>
        </p:nvSpPr>
        <p:spPr>
          <a:xfrm>
            <a:off x="9563100" y="2247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結束後 3–9 月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E7E61AE-59AA-4A77-A276-BE4DF78D7A0C}"/>
              </a:ext>
            </a:extLst>
          </p:cNvPr>
          <p:cNvSpPr>
            <a:spLocks noGrp="1"/>
          </p:cNvSpPr>
          <p:nvPr/>
        </p:nvSpPr>
        <p:spPr>
          <a:xfrm>
            <a:off x="9277350" y="3733800"/>
            <a:ext cx="2000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成果公開、投稿與修訂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00926C-3F70-48ED-9824-02594D01A72F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7E28A8-7861-4DEB-968B-819A7C1F2897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0BE2433-8243-4D06-96E2-B14C31893840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成果報告與期刊稿共用資料，但應從一開始分成兩個檔案</a:t>
            </a:r>
          </a:p>
        </p:txBody>
      </p:sp>
    </p:spTree>
    <p:extLst>
      <p:ext uri="{BB962C8B-B14F-4D97-AF65-F5344CB8AC3E}">
        <p14:creationId xmlns:p14="http://schemas.microsoft.com/office/powerpoint/2010/main" val="88403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895BF7B-A374-4A7D-9706-FC36FB9279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48250" cy="685800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53A977-5EC8-4DCA-9B96-F82A827ED004}"/>
              </a:ext>
            </a:extLst>
          </p:cNvPr>
          <p:cNvSpPr>
            <a:spLocks noGrp="1"/>
          </p:cNvSpPr>
          <p:nvPr/>
        </p:nvSpPr>
        <p:spPr>
          <a:xfrm>
            <a:off x="647700" y="8001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UNIT 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5FEC34-5310-4BE7-AA7A-856162A711C3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3714750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開學前準備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2B7BFB-5767-4061-8466-5E791B498CA2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3714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rPr>
              <a:t>資料開始蒐集前，把倫理、同意、測量與工具固定下來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C1580B-4021-4624-B813-B278A15D1EC6}"/>
              </a:ext>
            </a:extLst>
          </p:cNvPr>
          <p:cNvSpPr>
            <a:spLocks noGrp="1"/>
          </p:cNvSpPr>
          <p:nvPr/>
        </p:nvSpPr>
        <p:spPr>
          <a:xfrm>
            <a:off x="4533900" y="64198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4226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98CB88E-1842-4167-A426-34B9A10116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19E80B-AA1F-440F-BD63-E71F68D02B55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單元一｜開學前準備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C5FAFD-7071-4F91-9C13-D30921298686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倫理程序的時間點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CF393D77-E870-49F2-8DDC-C35D612E49E3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66CD1B-36C0-41D1-95C7-F295ADEC374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7EDA72-53DF-4461-9676-326B4C475FA1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8EED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CC731E-3786-4B65-B42C-70467A31D940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待核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9308F30-C42A-4DB5-BF09-640146B7AD34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452AB8-01CA-40B0-8DC4-40970A8A4C7E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DFC8AE-D509-4EAC-8E69-32EECB744497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資料蒐集開始前取得審查結果或書面備案</a:t>
            </a:r>
            <a:endParaRPr sz="24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D51604C7-F9BA-4EB8-8813-8EF77AF2468B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E346D3-B6FE-428C-BB9F-FE844BBB1081}"/>
              </a:ext>
            </a:extLst>
          </p:cNvPr>
          <p:cNvSpPr>
            <a:spLocks noGrp="1"/>
          </p:cNvSpPr>
          <p:nvPr/>
        </p:nvSpPr>
        <p:spPr>
          <a:xfrm>
            <a:off x="809625" y="25431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2C08573-BF7B-410F-A85B-BCC656E3D618}"/>
              </a:ext>
            </a:extLst>
          </p:cNvPr>
          <p:cNvSpPr>
            <a:spLocks noGrp="1"/>
          </p:cNvSpPr>
          <p:nvPr/>
        </p:nvSpPr>
        <p:spPr>
          <a:xfrm>
            <a:off x="1352550" y="24574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各校窗口與收件時間須向本校單位查核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616CCD2-68A5-40A5-B8A1-4285C1BEB890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87A721-312F-4E95-BB0F-BFEA4B0A63C1}"/>
              </a:ext>
            </a:extLst>
          </p:cNvPr>
          <p:cNvSpPr>
            <a:spLocks noGrp="1"/>
          </p:cNvSpPr>
          <p:nvPr/>
        </p:nvSpPr>
        <p:spPr>
          <a:xfrm>
            <a:off x="809625" y="32289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11740E-79A6-43E5-A9ED-1AA7E389BD8E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教師兼研究者時，研究同意與成績評定盡量分離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AF6542D7-7CCC-406C-9B9B-FA194C84CB6A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0EE07E-3523-403B-98C4-B22A914FEED6}"/>
              </a:ext>
            </a:extLst>
          </p:cNvPr>
          <p:cNvSpPr>
            <a:spLocks noGrp="1"/>
          </p:cNvSpPr>
          <p:nvPr/>
        </p:nvSpPr>
        <p:spPr>
          <a:xfrm>
            <a:off x="809625" y="39147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60ADBB-05BA-47A4-9000-8164B33D285B}"/>
              </a:ext>
            </a:extLst>
          </p:cNvPr>
          <p:cNvSpPr>
            <a:spLocks noGrp="1"/>
          </p:cNvSpPr>
          <p:nvPr/>
        </p:nvSpPr>
        <p:spPr>
          <a:xfrm>
            <a:off x="1352550" y="38290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未同意者仍能正常修課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91FB3D8-1803-4606-990B-FC9D9A76377E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828823-F8A0-41E2-858C-680779B5EDF2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AA7EB0-8E15-41F9-BD18-26EE68D1C4B6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事後補件可能無法補救，期刊是否接受仍以該刊政策為準</a:t>
            </a:r>
          </a:p>
        </p:txBody>
      </p:sp>
    </p:spTree>
    <p:extLst>
      <p:ext uri="{BB962C8B-B14F-4D97-AF65-F5344CB8AC3E}">
        <p14:creationId xmlns:p14="http://schemas.microsoft.com/office/powerpoint/2010/main" val="952044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72E04C0-1634-4F4B-8468-3573D36CD8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67A3C-F082-4193-894D-1C3A1201846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單元一｜開學前準備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4A5C61-E628-4FEB-A359-FCFBF05A6284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審查通過與書面備案的差異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7A965D1E-AD96-411E-8DE4-21681CFA309D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6EBDB2-9537-4CD4-BE97-C5212056E228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C972A3-ED75-4B90-B01E-DE52A56209B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225621-0932-46C6-B8BA-134A7BD71062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C6BB2D5-CA58-49EC-9E8F-7A83D025095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審查結果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E3FA14-752B-43F3-8820-92AEC7E66982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書面備案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A7476624-15C3-46D2-8A6D-262433CFB2EF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0D1AFC-9B6D-45A5-8103-92E5A760CF87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由權責單位依程序審查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可明確記錄資料用途與風險處理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投稿時仍須依期刊要求提供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C8674FD-4B51-4B0A-90F3-80C7285F7A0B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不等於完整倫理審查通過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適用情境依各校制度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不能保證期刊接受事後資料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E71BF7-14D4-4C1A-A514-3E570C7457DD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3D2975-DA28-42FF-B303-38526BF234A0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8C41B6-D6FF-4365-94E1-A5814B11A07B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先確認資料是否要用於發表，再決定程序</a:t>
            </a:r>
          </a:p>
        </p:txBody>
      </p:sp>
    </p:spTree>
    <p:extLst>
      <p:ext uri="{BB962C8B-B14F-4D97-AF65-F5344CB8AC3E}">
        <p14:creationId xmlns:p14="http://schemas.microsoft.com/office/powerpoint/2010/main" val="1713427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5D18EA0-6663-4BB6-A2FF-4230DEB885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9581AC-55FA-43B5-A233-E8F09FC02731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單元一｜開學前準備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7B47BC-7A2D-47A2-9C7A-08ABBFCB012D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同意書至少涵蓋的內容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981F90E2-AA26-44E2-BDAB-D1EEEC8E6719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8117A4-8570-4556-B015-FABB19646519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8C8E0BA-BCCC-4309-B981-7038D1C7BEE2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13CD95-E435-4677-98F8-F65516CC1785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127863-3797-4353-B6C4-607FF86F08E4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錄音與逐字稿</a:t>
            </a:r>
            <a:endParaRPr sz="24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AD77B4A-25AF-4F40-BA9E-5B23C2AAABF8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706593-411C-44DE-8BD5-0D1E75FCF72E}"/>
              </a:ext>
            </a:extLst>
          </p:cNvPr>
          <p:cNvSpPr>
            <a:spLocks noGrp="1"/>
          </p:cNvSpPr>
          <p:nvPr/>
        </p:nvSpPr>
        <p:spPr>
          <a:xfrm>
            <a:off x="809625" y="24860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DFF6BF-2BEB-4084-BA22-4D008FC67D47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AI 輔助處理與是否使用雲端服務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5500A55-4C6D-4B51-AE48-1CD9E9AF5474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061D06-0BB7-4A31-ADFA-A3E8423A9220}"/>
              </a:ext>
            </a:extLst>
          </p:cNvPr>
          <p:cNvSpPr>
            <a:spLocks noGrp="1"/>
          </p:cNvSpPr>
          <p:nvPr/>
        </p:nvSpPr>
        <p:spPr>
          <a:xfrm>
            <a:off x="809625" y="31146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6AA034-6E7A-4450-829F-2BA9CBDAC0A9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資料保存期限與匿名化方式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3467AAF-DF36-4AC9-9ACD-4F905969771F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3E5611-9A6A-47F3-9526-5FD639197163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234612-CBCC-4C36-843D-9400D56EC76E}"/>
              </a:ext>
            </a:extLst>
          </p:cNvPr>
          <p:cNvSpPr>
            <a:spLocks noGrp="1"/>
          </p:cNvSpPr>
          <p:nvPr/>
        </p:nvSpPr>
        <p:spPr>
          <a:xfrm>
            <a:off x="1352550" y="36576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退出方式與對修課、成績的影響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7341054E-C32B-4029-826C-FF3CFA732E2F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323850" cy="3238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9D63EC9-A3B1-488D-B9B9-F3558EC779CD}"/>
              </a:ext>
            </a:extLst>
          </p:cNvPr>
          <p:cNvSpPr>
            <a:spLocks noGrp="1"/>
          </p:cNvSpPr>
          <p:nvPr/>
        </p:nvSpPr>
        <p:spPr>
          <a:xfrm>
            <a:off x="809625" y="43719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6016F6B-58AF-4493-826C-3CD234E04E46}"/>
              </a:ext>
            </a:extLst>
          </p:cNvPr>
          <p:cNvSpPr>
            <a:spLocks noGrp="1"/>
          </p:cNvSpPr>
          <p:nvPr/>
        </p:nvSpPr>
        <p:spPr>
          <a:xfrm>
            <a:off x="1352550" y="42862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可識別資料的存取人員與保存位置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062EF45-0C56-4305-8F5A-2E0B9A0CDB99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A4FD72A-7E2A-4382-979D-3C4282F8694A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7E38196-B692-46CD-A598-8527A706CDF2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同意書沒有涵蓋雲端 AI，後續把資料上傳處理會產生爭議</a:t>
            </a:r>
          </a:p>
        </p:txBody>
      </p:sp>
    </p:spTree>
    <p:extLst>
      <p:ext uri="{BB962C8B-B14F-4D97-AF65-F5344CB8AC3E}">
        <p14:creationId xmlns:p14="http://schemas.microsoft.com/office/powerpoint/2010/main" val="570112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82BFAC2-2F6E-418F-979A-895D41B71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9EDAF2-26E1-42D5-B3AE-95B9A2D732E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單元一｜開學前準備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E6948A-AE11-4649-8057-D5EC41AD9099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18 週測量時點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6B9902D4-1B0F-454D-A264-17A1923AAF58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B459B7-C742-492A-84A1-014D53D7876B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18E48BB5-70A1-4D9D-BB86-A37B3944914A}"/>
              </a:ext>
            </a:extLst>
          </p:cNvPr>
          <p:cNvSpPr>
            <a:spLocks noGrp="1"/>
          </p:cNvSpPr>
          <p:nvPr/>
        </p:nvSpPr>
        <p:spPr>
          <a:xfrm>
            <a:off x="1190625" y="2971800"/>
            <a:ext cx="9429750" cy="9525"/>
          </a:xfrm>
          <a:prstGeom prst="line">
            <a:avLst/>
          </a:prstGeom>
          <a:noFill/>
          <a:ln w="2857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61A27D06-150C-41BE-9B87-387F8DAF799D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495300" cy="49530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178322-2626-40E2-8BFD-CA700984A37E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479348-1EF4-4399-A8BF-47BAEE51CD28}"/>
              </a:ext>
            </a:extLst>
          </p:cNvPr>
          <p:cNvSpPr>
            <a:spLocks noGrp="1"/>
          </p:cNvSpPr>
          <p:nvPr/>
        </p:nvSpPr>
        <p:spPr>
          <a:xfrm>
            <a:off x="285750" y="34480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第</a:t>
            </a:r>
            <a:r>
              <a:rPr sz="2400" b="1" dirty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 1 </a:t>
            </a:r>
            <a:r>
              <a:rPr sz="2400" b="1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週</a:t>
            </a:r>
            <a:endParaRPr sz="2400" b="1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基線</a:t>
            </a:r>
            <a:endParaRPr sz="2400" b="1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AEAECB5-B3A4-4801-A14D-E74D6EF31C38}"/>
              </a:ext>
            </a:extLst>
          </p:cNvPr>
          <p:cNvSpPr>
            <a:spLocks noGrp="1"/>
          </p:cNvSpPr>
          <p:nvPr/>
        </p:nvSpPr>
        <p:spPr>
          <a:xfrm>
            <a:off x="3429000" y="2724150"/>
            <a:ext cx="495300" cy="49530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D7E7A1-AC05-4669-A9FB-16EA883B7786}"/>
              </a:ext>
            </a:extLst>
          </p:cNvPr>
          <p:cNvSpPr>
            <a:spLocks noGrp="1"/>
          </p:cNvSpPr>
          <p:nvPr/>
        </p:nvSpPr>
        <p:spPr>
          <a:xfrm>
            <a:off x="3429000" y="28575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7AA595-117A-4919-9D31-F5197E037A9D}"/>
              </a:ext>
            </a:extLst>
          </p:cNvPr>
          <p:cNvSpPr>
            <a:spLocks noGrp="1"/>
          </p:cNvSpPr>
          <p:nvPr/>
        </p:nvSpPr>
        <p:spPr>
          <a:xfrm>
            <a:off x="2762250" y="34480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第 3–4 週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先行組介入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A2CDF659-4889-4408-BABD-FEF0493B4901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495300" cy="49530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8B7E0B-B3DE-4A6E-AAC2-7A68F80148C2}"/>
              </a:ext>
            </a:extLst>
          </p:cNvPr>
          <p:cNvSpPr>
            <a:spLocks noGrp="1"/>
          </p:cNvSpPr>
          <p:nvPr/>
        </p:nvSpPr>
        <p:spPr>
          <a:xfrm>
            <a:off x="5905500" y="28575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4831432-41D5-458C-9714-EA65D7ED95E4}"/>
              </a:ext>
            </a:extLst>
          </p:cNvPr>
          <p:cNvSpPr>
            <a:spLocks noGrp="1"/>
          </p:cNvSpPr>
          <p:nvPr/>
        </p:nvSpPr>
        <p:spPr>
          <a:xfrm>
            <a:off x="5238750" y="34480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第 4 週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近遷移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31871A84-D261-44D1-A586-9FE535693D1B}"/>
              </a:ext>
            </a:extLst>
          </p:cNvPr>
          <p:cNvSpPr>
            <a:spLocks noGrp="1"/>
          </p:cNvSpPr>
          <p:nvPr/>
        </p:nvSpPr>
        <p:spPr>
          <a:xfrm>
            <a:off x="8382000" y="2724150"/>
            <a:ext cx="495300" cy="49530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09861D-AD7A-413E-81F4-A5D55F7D0B8A}"/>
              </a:ext>
            </a:extLst>
          </p:cNvPr>
          <p:cNvSpPr>
            <a:spLocks noGrp="1"/>
          </p:cNvSpPr>
          <p:nvPr/>
        </p:nvSpPr>
        <p:spPr>
          <a:xfrm>
            <a:off x="8382000" y="28575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380CB8F-A44E-4B6E-AC94-611EF35D6900}"/>
              </a:ext>
            </a:extLst>
          </p:cNvPr>
          <p:cNvSpPr>
            <a:spLocks noGrp="1"/>
          </p:cNvSpPr>
          <p:nvPr/>
        </p:nvSpPr>
        <p:spPr>
          <a:xfrm>
            <a:off x="7715250" y="34480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第 5 週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延宕保留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1BBBEC15-4216-45E2-9EE0-BA0C8B425CF8}"/>
              </a:ext>
            </a:extLst>
          </p:cNvPr>
          <p:cNvSpPr>
            <a:spLocks noGrp="1"/>
          </p:cNvSpPr>
          <p:nvPr/>
        </p:nvSpPr>
        <p:spPr>
          <a:xfrm>
            <a:off x="10858500" y="2724150"/>
            <a:ext cx="495300" cy="49530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E689CC-5069-4F2D-831B-C59D5CC46605}"/>
              </a:ext>
            </a:extLst>
          </p:cNvPr>
          <p:cNvSpPr>
            <a:spLocks noGrp="1"/>
          </p:cNvSpPr>
          <p:nvPr/>
        </p:nvSpPr>
        <p:spPr>
          <a:xfrm>
            <a:off x="10858500" y="28575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98F6E85-BB52-4E63-93F9-0F98D45BBBB2}"/>
              </a:ext>
            </a:extLst>
          </p:cNvPr>
          <p:cNvSpPr>
            <a:spLocks noGrp="1"/>
          </p:cNvSpPr>
          <p:nvPr/>
        </p:nvSpPr>
        <p:spPr>
          <a:xfrm>
            <a:off x="10191750" y="34480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第 16–18 週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後測與訪談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E9C1EA-7729-4152-B2BF-C76FF26389B6}"/>
              </a:ext>
            </a:extLst>
          </p:cNvPr>
          <p:cNvSpPr>
            <a:spLocks noGrp="1"/>
          </p:cNvSpPr>
          <p:nvPr/>
        </p:nvSpPr>
        <p:spPr>
          <a:xfrm>
            <a:off x="1524000" y="1809750"/>
            <a:ext cx="9144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開學前：倫理、同意書、問卷、訪談大綱與錄音預試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6E918D-4F71-40BC-83B7-B4B37CE35B30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E6F0F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4E66433-8F92-484B-BF2E-511E0AEA4B96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96ACD2-0182-4ED2-8C7D-B27589EB387D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測量時點直接寫入課程進度表，避免學期中遺漏</a:t>
            </a:r>
          </a:p>
        </p:txBody>
      </p:sp>
    </p:spTree>
    <p:extLst>
      <p:ext uri="{BB962C8B-B14F-4D97-AF65-F5344CB8AC3E}">
        <p14:creationId xmlns:p14="http://schemas.microsoft.com/office/powerpoint/2010/main" val="1361284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71CC2BD-0C64-4A71-B447-313DE6B8BB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000C58-5B62-4F3C-A279-4C58CCD20DF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單元一｜開學前準備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A1A7F7-5C00-4312-B58E-C272BE322901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AI 產生研究工具的檢核流程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F1DAF273-F2FA-4FDD-A0EC-548526D3137D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55B507-13E5-49AA-9F84-7D0489EEEFE2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BC88B6-D096-4863-9DF4-D3A8EB686D3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8569C6-BC8D-4C9A-97C4-898B3852C755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A3FD8A57-3E0F-48CD-A4E4-3CCA98B518CE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73691F-836C-4375-A91A-5AC6FEED1A1D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15BE7F-3006-4BAE-9308-25D2BCE38007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先界定構念與操作定義</a:t>
            </a:r>
            <a:endParaRPr sz="24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2A4CCB3F-ABE7-4E96-A320-F7DB3DA4E052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7DADFF-6AF2-412A-A4FC-2C0AF544E25F}"/>
              </a:ext>
            </a:extLst>
          </p:cNvPr>
          <p:cNvSpPr>
            <a:spLocks noGrp="1"/>
          </p:cNvSpPr>
          <p:nvPr/>
        </p:nvSpPr>
        <p:spPr>
          <a:xfrm>
            <a:off x="809625" y="24860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60AE20-175F-434B-86E8-749B4F9884FA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AI 只產生題項草稿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DC6369ED-0FD6-407C-8B79-2F18721381E2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9D97C2-1FD3-423A-91DF-9A45E8E31C09}"/>
              </a:ext>
            </a:extLst>
          </p:cNvPr>
          <p:cNvSpPr>
            <a:spLocks noGrp="1"/>
          </p:cNvSpPr>
          <p:nvPr/>
        </p:nvSpPr>
        <p:spPr>
          <a:xfrm>
            <a:off x="809625" y="31146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5E62B5-2BA1-485A-90CD-7095641B1215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領域專家審查內容效度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2BCA2B3C-C74F-4371-BC84-7FEB3EC4E130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959F626-7CF7-4851-ADB1-6F05631A0E94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8155B0-2D5A-488F-90E4-A5D1FD52E51C}"/>
              </a:ext>
            </a:extLst>
          </p:cNvPr>
          <p:cNvSpPr>
            <a:spLocks noGrp="1"/>
          </p:cNvSpPr>
          <p:nvPr/>
        </p:nvSpPr>
        <p:spPr>
          <a:xfrm>
            <a:off x="1352550" y="36576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小樣本預試題意與填答時間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2AD03CD8-D101-4117-A7FA-F78CFBE0199D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323850" cy="3238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77240A-8060-47DE-B2A1-151922D90539}"/>
              </a:ext>
            </a:extLst>
          </p:cNvPr>
          <p:cNvSpPr>
            <a:spLocks noGrp="1"/>
          </p:cNvSpPr>
          <p:nvPr/>
        </p:nvSpPr>
        <p:spPr>
          <a:xfrm>
            <a:off x="809625" y="43719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9B49C0D-FEF6-4042-A596-44A6B91D5C79}"/>
              </a:ext>
            </a:extLst>
          </p:cNvPr>
          <p:cNvSpPr>
            <a:spLocks noGrp="1"/>
          </p:cNvSpPr>
          <p:nvPr/>
        </p:nvSpPr>
        <p:spPr>
          <a:xfrm>
            <a:off x="1352550" y="42862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既有量表回到原始來源核對題項與計分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AC9FC28-B704-4EE7-9062-E543B7E2CD24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7B31C1-1677-478A-9095-DBB50DE6D56A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40C29E7-EA55-4D40-94CE-F0AB58ED0B34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題目通順不等於有效度，AI 草稿不能寫成經驗證量表</a:t>
            </a:r>
          </a:p>
        </p:txBody>
      </p:sp>
    </p:spTree>
    <p:extLst>
      <p:ext uri="{BB962C8B-B14F-4D97-AF65-F5344CB8AC3E}">
        <p14:creationId xmlns:p14="http://schemas.microsoft.com/office/powerpoint/2010/main" val="1772730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C34F75A3-52D9-41E0-91FC-A5AB92CFC5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B6DCFA-EF67-4601-AA8A-7FBA4CA48578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單元一｜開學前準備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C755CE-A6B9-4C3D-B9C3-772730ACC73E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資料與工具的最低準備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5151B867-F78B-47EC-A4B5-74C7D511AEF6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90AB72-BBE7-41EC-A321-486E95F56CEB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89F757-C51C-4AB7-A9E8-77F11D67F4D9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資料管理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CC819B-D1A2-4331-B94A-F7DBF853AD58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AI 工具紀錄</a:t>
            </a:r>
          </a:p>
        </p:txBody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3F307E8E-F6DD-4000-92CB-DAC02B57AAA2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5CA3EA0-5F71-411A-8B60-28B8172D1C47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00–99 </a:t>
            </a: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資料夾結構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原始資料唯讀，分析使用複本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每兩週一次異地備份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變項說明表與版本日期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6AE87A-9A20-4EFB-90A4-D5C5DA31E280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工具與模型版本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使用日期與輸入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輸出與人工裁決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權杖、帳號與個人路徑不進公開文件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97DD46-0A49-4F56-BE3F-C2129C34DDF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A1D6A4E-E301-432B-8200-3D0760F09F2B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F7F5A4-A9EA-4B46-B1AE-583804A74B8C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可重現需要版本、參數與裁決紀錄</a:t>
            </a:r>
          </a:p>
        </p:txBody>
      </p:sp>
    </p:spTree>
    <p:extLst>
      <p:ext uri="{BB962C8B-B14F-4D97-AF65-F5344CB8AC3E}">
        <p14:creationId xmlns:p14="http://schemas.microsoft.com/office/powerpoint/2010/main" val="348133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FC3EDB1-206B-49BF-83D7-30041E54C6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48250" cy="685800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A06776-FF95-47E3-A0AC-64574C95FFB1}"/>
              </a:ext>
            </a:extLst>
          </p:cNvPr>
          <p:cNvSpPr>
            <a:spLocks noGrp="1"/>
          </p:cNvSpPr>
          <p:nvPr/>
        </p:nvSpPr>
        <p:spPr>
          <a:xfrm>
            <a:off x="647700" y="8001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UNIT 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2A919C-92CE-452B-BB16-41247EAC04CE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3714750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執行紀錄與資料處理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BB301C-1BEA-49D4-8BC6-4C20844CE582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3714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rPr>
              <a:t>當場記、固定格式、留時間戳，AI 不補寫未曾發生的內容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A37923-86D6-47C6-A8BE-8C2012915665}"/>
              </a:ext>
            </a:extLst>
          </p:cNvPr>
          <p:cNvSpPr>
            <a:spLocks noGrp="1"/>
          </p:cNvSpPr>
          <p:nvPr/>
        </p:nvSpPr>
        <p:spPr>
          <a:xfrm>
            <a:off x="4533900" y="64198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16476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B8D879D-1375-4A2B-8BE5-2B825C5AE9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7B805D-2226-4A93-AD8D-CDBA189CED0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單元二｜執行紀錄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747770-0323-49F2-AC23-4FD35503CC07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最低記錄項目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F6CEA54D-A48A-453D-831A-D2518B5A4D50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D0B6E4-A4A3-44C2-A807-23E539C93983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3985939838"/>
              </p:ext>
            </p:extLst>
          </p:nvPr>
        </p:nvGraphicFramePr>
        <p:xfrm>
          <a:off x="628650" y="1714500"/>
          <a:ext cx="10896600" cy="38100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類別</a:t>
                      </a:r>
                      <a:endParaRPr sz="24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要記錄的內容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頻率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教學日誌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日期、單元、實際流程、偏離與原因</a:t>
                      </a:r>
                      <a:endParaRPr sz="24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課後 24 小時內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介入紀錄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PAVET </a:t>
                      </a:r>
                      <a:r>
                        <a:rPr sz="24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步驟、AI</a:t>
                      </a:r>
                      <a:r>
                        <a:rPr sz="24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24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工具與版本</a:t>
                      </a:r>
                      <a:endParaRPr sz="24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每次介入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資料蒐集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回收數、缺漏、訪談時間與地點</a:t>
                      </a:r>
                      <a:endParaRPr sz="24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每次蒐集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異常事件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設備、缺課、退出、工具改版</a:t>
                      </a:r>
                      <a:endParaRPr sz="24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發生當日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24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變更紀錄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修改內容、原因與核准狀態</a:t>
                      </a:r>
                      <a:endParaRPr sz="24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發生當日</a:t>
                      </a:r>
                      <a:endParaRPr sz="24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7E8ADDD-65E8-4827-9536-04BBDB4EF9F0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0CE6A09-16D2-4553-BC98-6CCF7AE1D8DB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50B68D-C228-4279-BF99-D927617A0090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事後回憶的完整記錄仍是弱證據</a:t>
            </a:r>
          </a:p>
        </p:txBody>
      </p:sp>
    </p:spTree>
    <p:extLst>
      <p:ext uri="{BB962C8B-B14F-4D97-AF65-F5344CB8AC3E}">
        <p14:creationId xmlns:p14="http://schemas.microsoft.com/office/powerpoint/2010/main" val="367160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C185B55-76C7-4B6B-8E97-F6D7BC8FFC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D04B3D-036C-4098-9BAA-EED2FAAEF60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單元二｜執行紀錄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7E5F8A-0E6D-435C-BA28-A189C112A741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計畫變更的雙軌紀錄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68B7F0D5-79EE-41F4-A69F-F91E14A3F837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C25D03-0852-4521-9128-3F505190C1FF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4298F6-7834-463C-95ED-5B97CBE74F8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E4F2E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87CD3B-36AC-477E-A7C3-B45DF1B4F2DC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已查證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F2F1AD7-F6ED-4478-BE6E-169FAAC221DC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640E32-963C-4FA2-A369-3794023F3C20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21821D-DDB5-47C1-B54D-4515E6787F94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研究現場先記下偏離與原因</a:t>
            </a:r>
            <a:endParaRPr sz="24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9A27A3E3-B6CF-4D2C-BBB0-24DFA40DC811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CFAC7E1-CA25-4377-AB38-595EC72ADA31}"/>
              </a:ext>
            </a:extLst>
          </p:cNvPr>
          <p:cNvSpPr>
            <a:spLocks noGrp="1"/>
          </p:cNvSpPr>
          <p:nvPr/>
        </p:nvSpPr>
        <p:spPr>
          <a:xfrm>
            <a:off x="809625" y="25431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C43F46-54E9-4B58-863F-84A1356BA093}"/>
              </a:ext>
            </a:extLst>
          </p:cNvPr>
          <p:cNvSpPr>
            <a:spLocks noGrp="1"/>
          </p:cNvSpPr>
          <p:nvPr/>
        </p:nvSpPr>
        <p:spPr>
          <a:xfrm>
            <a:off x="1352550" y="24574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確認是否涉及行政變更或延長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697D48A-CD60-4CAB-B017-F60A28918FE0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2BAE27-E6F1-4824-B85A-F581CEAFA4F3}"/>
              </a:ext>
            </a:extLst>
          </p:cNvPr>
          <p:cNvSpPr>
            <a:spLocks noGrp="1"/>
          </p:cNvSpPr>
          <p:nvPr/>
        </p:nvSpPr>
        <p:spPr>
          <a:xfrm>
            <a:off x="809625" y="32289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2C12AC5-7D08-4719-917F-BF3E31626219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由學校依程序辦理</a:t>
            </a:r>
            <a:endParaRPr sz="24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A0288CEE-6459-4116-ABFD-76731226DBF0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C98D465-22AD-4A96-A8D5-DA4609E82038}"/>
              </a:ext>
            </a:extLst>
          </p:cNvPr>
          <p:cNvSpPr>
            <a:spLocks noGrp="1"/>
          </p:cNvSpPr>
          <p:nvPr/>
        </p:nvSpPr>
        <p:spPr>
          <a:xfrm>
            <a:off x="809625" y="39147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680119-8C3E-4027-9D15-6FE5C5023B24}"/>
              </a:ext>
            </a:extLst>
          </p:cNvPr>
          <p:cNvSpPr>
            <a:spLocks noGrp="1"/>
          </p:cNvSpPr>
          <p:nvPr/>
        </p:nvSpPr>
        <p:spPr>
          <a:xfrm>
            <a:off x="1352550" y="38290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行政文件與實際執行紀錄保持一致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9FF7B69-A151-49DC-B7C2-4014D20EACB6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A1FB01-E1DB-4B38-B034-619660329B61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A5EDB15-B4B5-404A-A049-5107DCA4DB35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變更不能只留在行政文件，研究日誌也要能對得起來</a:t>
            </a:r>
          </a:p>
        </p:txBody>
      </p:sp>
    </p:spTree>
    <p:extLst>
      <p:ext uri="{BB962C8B-B14F-4D97-AF65-F5344CB8AC3E}">
        <p14:creationId xmlns:p14="http://schemas.microsoft.com/office/powerpoint/2010/main" val="1400549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15D094C1-2EA9-4E58-B184-4FACD165C4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3B4DA7-1F20-427F-8F37-675F69021A1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單元二｜訪談與錄音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10699B3-4300-4B9C-92E2-27924B135F43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錄音、轉寫與引用流程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5BDF63AF-2F33-4A30-B84C-3A3D8C69A77D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BD1CA9-B6BB-4624-B877-8BF03D2C2851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A5874FB6-42B3-4091-A443-3BF40C3D347A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9429750" cy="9525"/>
          </a:xfrm>
          <a:prstGeom prst="line">
            <a:avLst/>
          </a:prstGeom>
          <a:noFill/>
          <a:ln w="2857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EE688D3-5AC8-4F94-9622-85955B5B391F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495300" cy="49530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2C584F-F8EB-454D-B4CD-CF5F1FB6E158}"/>
              </a:ext>
            </a:extLst>
          </p:cNvPr>
          <p:cNvSpPr>
            <a:spLocks noGrp="1"/>
          </p:cNvSpPr>
          <p:nvPr/>
        </p:nvSpPr>
        <p:spPr>
          <a:xfrm>
            <a:off x="952500" y="29146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E110EE-2F34-419A-9E32-E38A0A797E84}"/>
              </a:ext>
            </a:extLst>
          </p:cNvPr>
          <p:cNvSpPr>
            <a:spLocks noGrp="1"/>
          </p:cNvSpPr>
          <p:nvPr/>
        </p:nvSpPr>
        <p:spPr>
          <a:xfrm>
            <a:off x="285750" y="350520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同意與</a:t>
            </a:r>
            <a:endParaRPr sz="2400" b="1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設備測試</a:t>
            </a:r>
            <a:endParaRPr sz="2400" b="1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9A1BE4D8-B1BE-4434-96AD-3EDEE957983C}"/>
              </a:ext>
            </a:extLst>
          </p:cNvPr>
          <p:cNvSpPr>
            <a:spLocks noGrp="1"/>
          </p:cNvSpPr>
          <p:nvPr/>
        </p:nvSpPr>
        <p:spPr>
          <a:xfrm>
            <a:off x="3429000" y="2781300"/>
            <a:ext cx="495300" cy="49530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F3C4F1-B07B-4E10-99C2-DEE888F5C3D3}"/>
              </a:ext>
            </a:extLst>
          </p:cNvPr>
          <p:cNvSpPr>
            <a:spLocks noGrp="1"/>
          </p:cNvSpPr>
          <p:nvPr/>
        </p:nvSpPr>
        <p:spPr>
          <a:xfrm>
            <a:off x="3429000" y="29146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75D581-2375-4577-A82D-4DEE06549F88}"/>
              </a:ext>
            </a:extLst>
          </p:cNvPr>
          <p:cNvSpPr>
            <a:spLocks noGrp="1"/>
          </p:cNvSpPr>
          <p:nvPr/>
        </p:nvSpPr>
        <p:spPr>
          <a:xfrm>
            <a:off x="2762250" y="350520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錄音與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座位代碼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C48E5A0-FD80-4035-98E1-F858C72BE24F}"/>
              </a:ext>
            </a:extLst>
          </p:cNvPr>
          <p:cNvSpPr>
            <a:spLocks noGrp="1"/>
          </p:cNvSpPr>
          <p:nvPr/>
        </p:nvSpPr>
        <p:spPr>
          <a:xfrm>
            <a:off x="5905500" y="2781300"/>
            <a:ext cx="495300" cy="49530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62B3AB-7D3A-4A9D-9BBB-8DA0A548D2A4}"/>
              </a:ext>
            </a:extLst>
          </p:cNvPr>
          <p:cNvSpPr>
            <a:spLocks noGrp="1"/>
          </p:cNvSpPr>
          <p:nvPr/>
        </p:nvSpPr>
        <p:spPr>
          <a:xfrm>
            <a:off x="5905500" y="29146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0167AD-26FF-465D-972D-B3FCB2AC232D}"/>
              </a:ext>
            </a:extLst>
          </p:cNvPr>
          <p:cNvSpPr>
            <a:spLocks noGrp="1"/>
          </p:cNvSpPr>
          <p:nvPr/>
        </p:nvSpPr>
        <p:spPr>
          <a:xfrm>
            <a:off x="5238750" y="350520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轉寫與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說話者分離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9402EEE-3A45-4480-8479-B4771C958244}"/>
              </a:ext>
            </a:extLst>
          </p:cNvPr>
          <p:cNvSpPr>
            <a:spLocks noGrp="1"/>
          </p:cNvSpPr>
          <p:nvPr/>
        </p:nvSpPr>
        <p:spPr>
          <a:xfrm>
            <a:off x="8382000" y="2781300"/>
            <a:ext cx="495300" cy="49530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C4E5640-3A5C-4238-946E-9A15DDF7C749}"/>
              </a:ext>
            </a:extLst>
          </p:cNvPr>
          <p:cNvSpPr>
            <a:spLocks noGrp="1"/>
          </p:cNvSpPr>
          <p:nvPr/>
        </p:nvSpPr>
        <p:spPr>
          <a:xfrm>
            <a:off x="8382000" y="29146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3AE8725-652A-4C27-9800-473B101BB2B8}"/>
              </a:ext>
            </a:extLst>
          </p:cNvPr>
          <p:cNvSpPr>
            <a:spLocks noGrp="1"/>
          </p:cNvSpPr>
          <p:nvPr/>
        </p:nvSpPr>
        <p:spPr>
          <a:xfrm>
            <a:off x="7715250" y="350520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人工抽樣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核對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8B787A9-0991-4D7E-BDFB-7F0796A6C7FC}"/>
              </a:ext>
            </a:extLst>
          </p:cNvPr>
          <p:cNvSpPr>
            <a:spLocks noGrp="1"/>
          </p:cNvSpPr>
          <p:nvPr/>
        </p:nvSpPr>
        <p:spPr>
          <a:xfrm>
            <a:off x="10858500" y="2781300"/>
            <a:ext cx="495300" cy="49530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77D780-D70C-4E93-8EA6-4201C5DDBAA8}"/>
              </a:ext>
            </a:extLst>
          </p:cNvPr>
          <p:cNvSpPr>
            <a:spLocks noGrp="1"/>
          </p:cNvSpPr>
          <p:nvPr/>
        </p:nvSpPr>
        <p:spPr>
          <a:xfrm>
            <a:off x="10858500" y="29146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C1D216-3C86-465A-886A-0E5BB14140C3}"/>
              </a:ext>
            </a:extLst>
          </p:cNvPr>
          <p:cNvSpPr>
            <a:spLocks noGrp="1"/>
          </p:cNvSpPr>
          <p:nvPr/>
        </p:nvSpPr>
        <p:spPr>
          <a:xfrm>
            <a:off x="10191750" y="350520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匿名化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再引用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016BF2-C7F8-4F53-B440-3E9DD2E5F7F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F917E9-36FB-461A-B96E-32B3A5EF571E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2CA7A6D-7B11-4073-A8AF-E060F17A5BA1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逐字稿原文加代碼，不能把 AI 摘要當成受訪者原話</a:t>
            </a:r>
          </a:p>
        </p:txBody>
      </p:sp>
    </p:spTree>
    <p:extLst>
      <p:ext uri="{BB962C8B-B14F-4D97-AF65-F5344CB8AC3E}">
        <p14:creationId xmlns:p14="http://schemas.microsoft.com/office/powerpoint/2010/main" val="849287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C16B7D56-C358-409B-A3FC-79D46BA70C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B23C08-C08B-4987-A20E-B18C938741D0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單元二｜訪談與錄音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B89D7F-B512-4B88-A538-9FAD6D974745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說話者辨識的能力與限制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9F2A9F83-2610-4DF5-8605-4A5643655FD9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698CA5-3C71-45BC-96E9-419F0816F9EE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53B3D5-BC31-4CA3-BE3A-3C48C4ADAA60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E4F2E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B448AF-2DD0-4768-A105-07FAA54BDA2D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已查證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6AB8DD-E25C-4F80-84E4-6341604AA8CE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WhisperX 已知能力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421982-76F5-4084-890B-6EB0B84D2A89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正式使用前仍要試測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51196058-FCE9-496B-8D4F-1238501AFDF6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2CBC4-78BC-451B-A093-1450AC113776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語音辨識與字詞級時間戳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以</a:t>
            </a:r>
            <a:r>
              <a:rPr sz="2400" dirty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pyannote</a:t>
            </a:r>
            <a:r>
              <a:rPr sz="2400" dirty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為基礎的說話者分離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需模型條款、權杖與相符的硬體環境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733472-466C-436B-85F6-91112BC9385E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重疊說話的辨識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國語、台語與中英夾雜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自己的錄音設備與座位情境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DB7269-C049-4D44-A398-E088C817617F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40A426-C229-429A-B8D3-86217CC50F5C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683B59-8B63-41DF-83E3-40AE9B70D73D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自架不等於合規，仍須檢查同意與資料流向</a:t>
            </a:r>
          </a:p>
        </p:txBody>
      </p:sp>
    </p:spTree>
    <p:extLst>
      <p:ext uri="{BB962C8B-B14F-4D97-AF65-F5344CB8AC3E}">
        <p14:creationId xmlns:p14="http://schemas.microsoft.com/office/powerpoint/2010/main" val="3606754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4DA4C80C-2484-407F-8421-0D3E50E2D4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DED38E-CEE3-4BF6-BE74-0681A2F1591F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單元二｜訪談與錄音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FF6474-41E0-4606-BB03-CA87C219E2DE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工具導入前的六項檢核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F9FBF8B-B81D-4008-AEDA-7E5A084460AB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3229AF-53A7-4659-A552-5806A0BEA34D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01FD0CA-FEBC-471D-8089-578D142A7B07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B139D7-8C47-4083-908E-AE73ABA1D5A6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E8E94E-A918-4A6B-A28E-CB40E940B6BB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授權是否允許研究使用</a:t>
            </a:r>
            <a:endParaRPr sz="24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EA03D58F-5528-48B7-843E-391E3CC61726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014E23-E89C-40F0-8013-B7DB11D97717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A41FBF-E0F0-4539-BD9F-7A4E4A75EF24}"/>
              </a:ext>
            </a:extLst>
          </p:cNvPr>
          <p:cNvSpPr>
            <a:spLocks noGrp="1"/>
          </p:cNvSpPr>
          <p:nvPr/>
        </p:nvSpPr>
        <p:spPr>
          <a:xfrm>
            <a:off x="1352550" y="23241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音檔是否外傳，同意書是否涵蓋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84F8A2B5-126E-450F-BA7A-D21E662D8A09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F21A20-0BCF-43AC-979C-72E0421B4F6B}"/>
              </a:ext>
            </a:extLst>
          </p:cNvPr>
          <p:cNvSpPr>
            <a:spLocks noGrp="1"/>
          </p:cNvSpPr>
          <p:nvPr/>
        </p:nvSpPr>
        <p:spPr>
          <a:xfrm>
            <a:off x="809625" y="29622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A184EF-D992-4F07-A2B8-0A1A7B0E9496}"/>
              </a:ext>
            </a:extLst>
          </p:cNvPr>
          <p:cNvSpPr>
            <a:spLocks noGrp="1"/>
          </p:cNvSpPr>
          <p:nvPr/>
        </p:nvSpPr>
        <p:spPr>
          <a:xfrm>
            <a:off x="1352550" y="28765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模型、帳號與權杖需求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4921B8D1-81DC-4824-8B64-A5DDA4D982B0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3E4FB4-ADEC-48B7-9F5D-823FBABB2244}"/>
              </a:ext>
            </a:extLst>
          </p:cNvPr>
          <p:cNvSpPr>
            <a:spLocks noGrp="1"/>
          </p:cNvSpPr>
          <p:nvPr/>
        </p:nvSpPr>
        <p:spPr>
          <a:xfrm>
            <a:off x="809625" y="35147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DD9744-AE7B-4237-AF74-FCB5D9B2CA9E}"/>
              </a:ext>
            </a:extLst>
          </p:cNvPr>
          <p:cNvSpPr>
            <a:spLocks noGrp="1"/>
          </p:cNvSpPr>
          <p:nvPr/>
        </p:nvSpPr>
        <p:spPr>
          <a:xfrm>
            <a:off x="1352550" y="34290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專案是否仍在維護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FED77AD1-01F1-4C19-AFBF-F2D38820CB93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323850" cy="3238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7A8F09-EF3B-4C79-A8FF-67D9D6496D64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7AB34F-BB7B-4DA2-9F08-1C0B4876A4F7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是否先用假資料試跑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9A71FB7-B369-459B-B1DD-1505FE7915A1}"/>
              </a:ext>
            </a:extLst>
          </p:cNvPr>
          <p:cNvSpPr>
            <a:spLocks noGrp="1"/>
          </p:cNvSpPr>
          <p:nvPr/>
        </p:nvSpPr>
        <p:spPr>
          <a:xfrm>
            <a:off x="800100" y="455295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E3E8D3-1D23-4B5D-A603-7E74FDB39502}"/>
              </a:ext>
            </a:extLst>
          </p:cNvPr>
          <p:cNvSpPr>
            <a:spLocks noGrp="1"/>
          </p:cNvSpPr>
          <p:nvPr/>
        </p:nvSpPr>
        <p:spPr>
          <a:xfrm>
            <a:off x="809625" y="46196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36E883-A405-4330-8909-E1B314232A4B}"/>
              </a:ext>
            </a:extLst>
          </p:cNvPr>
          <p:cNvSpPr>
            <a:spLocks noGrp="1"/>
          </p:cNvSpPr>
          <p:nvPr/>
        </p:nvSpPr>
        <p:spPr>
          <a:xfrm>
            <a:off x="1352550" y="45339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版本與參數是否保存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700F8D-4F67-41DE-9B4E-6F027F624E12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7040F5-1532-4DC6-820D-E0F0AC136816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88DECB-8629-4681-840B-0D4EA7ED8BFA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GitHub 上找得到，不代表可直接放入研究流程</a:t>
            </a:r>
          </a:p>
        </p:txBody>
      </p:sp>
    </p:spTree>
    <p:extLst>
      <p:ext uri="{BB962C8B-B14F-4D97-AF65-F5344CB8AC3E}">
        <p14:creationId xmlns:p14="http://schemas.microsoft.com/office/powerpoint/2010/main" val="9443630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0D3FC685-08F2-43AF-B8AE-8021FADD93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21E0A1-F503-466A-99B9-ECFA73CAB1D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單元二｜訪談與錄音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5D53AF-28D9-4904-9EF8-C17B7C5734BB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自架示範的最低可行版本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29E507BE-B9A1-4BBF-B6D7-174C22B5B00D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604B1B-FF23-4A30-81DD-2941FCEC7477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2BC30B-918F-48CE-97A9-7BA29A0F25A7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E6F0F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955132-73B3-4D88-B07D-91F9CF2385DD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講者經驗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77CCE2-5C4F-4664-B136-690E1370C08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現場示範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E5B260-DB7F-4B88-AC74-317CF0505684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聽眾可帶走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AE5789EE-28DE-463D-BA35-D9F9F422F9BE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14E7CC-0D74-4665-868D-47444C7884CC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只使用假音檔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轉寫、說話者標記與匯出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說明資料是否離開本機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455B86-AD8E-46C7-8DD6-E8F74ABE4C1E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本機離線執行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清楚列出模型下載與權杖需求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不散布網址與安全設定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BF64BA-D673-4072-A53B-90B881B255A1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8E360B-7FC6-4EAB-87AF-590B3C8219E0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FFDA98-7B2B-4E71-832C-03175CFF30DF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示範可複製，才能成為教學資源</a:t>
            </a:r>
          </a:p>
        </p:txBody>
      </p:sp>
    </p:spTree>
    <p:extLst>
      <p:ext uri="{BB962C8B-B14F-4D97-AF65-F5344CB8AC3E}">
        <p14:creationId xmlns:p14="http://schemas.microsoft.com/office/powerpoint/2010/main" val="432457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433C649B-2222-4688-80F8-8EF8DC85B9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B2AD1A-3A23-4B26-A977-33949A99D074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單元二｜質性編碼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7EAA89-8D8B-4676-ABB5-BF31DFD5B2C2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AI 作為第二編碼者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5C4C90D2-03D4-46BD-A8F9-454423B9A783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4005B-307A-429D-B203-74F55BC74469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3C223-BDC4-4379-B9E4-CF1A3A091A0A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8EED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10B28F-6CA7-4CFE-AD95-F6F8DC7E0A8B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待核</a:t>
            </a:r>
          </a:p>
        </p:txBody>
      </p:sp>
      <p:graphicFrame>
        <p:nvGraphicFramePr>
          <p:cNvPr id="19" name="表格 18"/>
          <p:cNvGraphicFramePr/>
          <p:nvPr>
            <p:extLst>
              <p:ext uri="{D42A27DB-BD31-4B8C-83A1-F6EECF244321}">
                <p14:modId xmlns:p14="http://schemas.microsoft.com/office/powerpoint/2010/main" val="156449731"/>
              </p:ext>
            </p:extLst>
          </p:nvPr>
        </p:nvGraphicFramePr>
        <p:xfrm>
          <a:off x="628650" y="1714500"/>
          <a:ext cx="10896600" cy="3667125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81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設計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作法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主要風險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人工把關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人工初編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研究者建立編碼本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定義不清導致漂移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先固定操作定義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AI 第二編碼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依相同編碼本獨立編碼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模型與提示詞變動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保存版本與提示詞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一致性報告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呈現一致與分歧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統計選擇不當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適用條件仍待核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差異裁決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人工回到原文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為追求一致而硬改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保存裁決理由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86A7E36-F5BA-4692-883B-3771824C5E62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10A17A-79A6-490C-A3F5-5611F2F05BA8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C65BF5D-809A-48E8-B73B-0029A0229D18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避免寫『由 AI 完成編碼』</a:t>
            </a:r>
          </a:p>
        </p:txBody>
      </p:sp>
    </p:spTree>
    <p:extLst>
      <p:ext uri="{BB962C8B-B14F-4D97-AF65-F5344CB8AC3E}">
        <p14:creationId xmlns:p14="http://schemas.microsoft.com/office/powerpoint/2010/main" val="616130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4024E1D-7696-438D-90A3-9CF00F9062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48250" cy="685800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7520DE-5319-4098-A090-09AB0DFA16AF}"/>
              </a:ext>
            </a:extLst>
          </p:cNvPr>
          <p:cNvSpPr>
            <a:spLocks noGrp="1"/>
          </p:cNvSpPr>
          <p:nvPr/>
        </p:nvSpPr>
        <p:spPr>
          <a:xfrm>
            <a:off x="647700" y="8001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UNIT 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6B1F0FA-356B-460D-914E-24C0FC6C91F9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3714750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方法與因果論述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ABD8C9-D72E-4236-BCCE-C2497E1273FD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3714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rPr>
              <a:t>把設計限制寫清楚，以與預測一致的證據回應研究問題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73A967-6DC2-4A43-8646-F86AA29CD27C}"/>
              </a:ext>
            </a:extLst>
          </p:cNvPr>
          <p:cNvSpPr>
            <a:spLocks noGrp="1"/>
          </p:cNvSpPr>
          <p:nvPr/>
        </p:nvSpPr>
        <p:spPr>
          <a:xfrm>
            <a:off x="4533900" y="64198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66148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D139FF2A-EEBE-4EE8-B453-1A2C4C85F5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016687-1E1A-45D3-A26C-8FC587BECB16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單元三｜研究設計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20FF88-A5D2-4864-BED2-8509D9E687E5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先行與延遲介入的證據位置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DEC1524F-6DA4-482B-8384-9917CF5315C3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FB8008-9F30-40FD-809E-F0B925C103F9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22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B581701D-D944-4393-93D5-F3FED942AFBD}"/>
              </a:ext>
            </a:extLst>
          </p:cNvPr>
          <p:cNvSpPr>
            <a:spLocks noGrp="1"/>
          </p:cNvSpPr>
          <p:nvPr/>
        </p:nvSpPr>
        <p:spPr>
          <a:xfrm>
            <a:off x="1190625" y="3009900"/>
            <a:ext cx="9429750" cy="9525"/>
          </a:xfrm>
          <a:prstGeom prst="line">
            <a:avLst/>
          </a:prstGeom>
          <a:noFill/>
          <a:ln w="2857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963F80B9-609E-47B6-90D7-FF70E24935BA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495300" cy="49530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37C769-C585-42EA-9EED-861879C82551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CBB0E9-B8DE-412D-9C6D-D51D7C160AB3}"/>
              </a:ext>
            </a:extLst>
          </p:cNvPr>
          <p:cNvSpPr>
            <a:spLocks noGrp="1"/>
          </p:cNvSpPr>
          <p:nvPr/>
        </p:nvSpPr>
        <p:spPr>
          <a:xfrm>
            <a:off x="2857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基線</a:t>
            </a:r>
            <a:endParaRPr sz="2400" b="1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C1B74001-F51A-477F-A8DD-8F2FF00D83AC}"/>
              </a:ext>
            </a:extLst>
          </p:cNvPr>
          <p:cNvSpPr>
            <a:spLocks noGrp="1"/>
          </p:cNvSpPr>
          <p:nvPr/>
        </p:nvSpPr>
        <p:spPr>
          <a:xfrm>
            <a:off x="3429000" y="2762250"/>
            <a:ext cx="495300" cy="49530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E0A24BD-ECCD-4F85-8EAF-C2B6CF9440AC}"/>
              </a:ext>
            </a:extLst>
          </p:cNvPr>
          <p:cNvSpPr>
            <a:spLocks noGrp="1"/>
          </p:cNvSpPr>
          <p:nvPr/>
        </p:nvSpPr>
        <p:spPr>
          <a:xfrm>
            <a:off x="34290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AB3AE97-9372-4F83-B598-9AA72D215E7B}"/>
              </a:ext>
            </a:extLst>
          </p:cNvPr>
          <p:cNvSpPr>
            <a:spLocks noGrp="1"/>
          </p:cNvSpPr>
          <p:nvPr/>
        </p:nvSpPr>
        <p:spPr>
          <a:xfrm>
            <a:off x="27622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先行組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接受介入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204CA7FB-61FF-4242-A345-7B732D38E30A}"/>
              </a:ext>
            </a:extLst>
          </p:cNvPr>
          <p:cNvSpPr>
            <a:spLocks noGrp="1"/>
          </p:cNvSpPr>
          <p:nvPr/>
        </p:nvSpPr>
        <p:spPr>
          <a:xfrm>
            <a:off x="5905500" y="2762250"/>
            <a:ext cx="495300" cy="49530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5B7ADB-E403-49E3-A43B-B609CAE6C0DE}"/>
              </a:ext>
            </a:extLst>
          </p:cNvPr>
          <p:cNvSpPr>
            <a:spLocks noGrp="1"/>
          </p:cNvSpPr>
          <p:nvPr/>
        </p:nvSpPr>
        <p:spPr>
          <a:xfrm>
            <a:off x="59055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7458C3-FD6B-49A1-89CD-765A613F8A8D}"/>
              </a:ext>
            </a:extLst>
          </p:cNvPr>
          <p:cNvSpPr>
            <a:spLocks noGrp="1"/>
          </p:cNvSpPr>
          <p:nvPr/>
        </p:nvSpPr>
        <p:spPr>
          <a:xfrm>
            <a:off x="52387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近遷移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D4E9C0B-BA4A-4B5E-81AA-413B26341A65}"/>
              </a:ext>
            </a:extLst>
          </p:cNvPr>
          <p:cNvSpPr>
            <a:spLocks noGrp="1"/>
          </p:cNvSpPr>
          <p:nvPr/>
        </p:nvSpPr>
        <p:spPr>
          <a:xfrm>
            <a:off x="8382000" y="2762250"/>
            <a:ext cx="495300" cy="49530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478A61-95BA-4EDE-AAFE-91225C0EEA89}"/>
              </a:ext>
            </a:extLst>
          </p:cNvPr>
          <p:cNvSpPr>
            <a:spLocks noGrp="1"/>
          </p:cNvSpPr>
          <p:nvPr/>
        </p:nvSpPr>
        <p:spPr>
          <a:xfrm>
            <a:off x="83820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003FCA8-C838-4C59-B202-66E6CE22D0A4}"/>
              </a:ext>
            </a:extLst>
          </p:cNvPr>
          <p:cNvSpPr>
            <a:spLocks noGrp="1"/>
          </p:cNvSpPr>
          <p:nvPr/>
        </p:nvSpPr>
        <p:spPr>
          <a:xfrm>
            <a:off x="77152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延宕保留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6225D0FC-4CD3-445E-8F5B-764FF244E4DC}"/>
              </a:ext>
            </a:extLst>
          </p:cNvPr>
          <p:cNvSpPr>
            <a:spLocks noGrp="1"/>
          </p:cNvSpPr>
          <p:nvPr/>
        </p:nvSpPr>
        <p:spPr>
          <a:xfrm>
            <a:off x="10858500" y="2762250"/>
            <a:ext cx="495300" cy="49530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D2C5A0-08E2-4180-9DA1-ECAC087512E3}"/>
              </a:ext>
            </a:extLst>
          </p:cNvPr>
          <p:cNvSpPr>
            <a:spLocks noGrp="1"/>
          </p:cNvSpPr>
          <p:nvPr/>
        </p:nvSpPr>
        <p:spPr>
          <a:xfrm>
            <a:off x="108585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721490-47E7-4674-9065-D3C4ABB16C98}"/>
              </a:ext>
            </a:extLst>
          </p:cNvPr>
          <p:cNvSpPr>
            <a:spLocks noGrp="1"/>
          </p:cNvSpPr>
          <p:nvPr/>
        </p:nvSpPr>
        <p:spPr>
          <a:xfrm>
            <a:off x="101917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延遲組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接受介入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B2E373B-DC13-4468-BCA2-2E05EA143DCB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8EED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B01D59F-B5C6-42B3-A1A8-C2B0F183E46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522047-9C68-4BC4-9B04-C6FFD9B8433F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延遲組在同一學期先擔任比較，再接受介入，仍不等於隨機對照</a:t>
            </a:r>
          </a:p>
        </p:txBody>
      </p:sp>
    </p:spTree>
    <p:extLst>
      <p:ext uri="{BB962C8B-B14F-4D97-AF65-F5344CB8AC3E}">
        <p14:creationId xmlns:p14="http://schemas.microsoft.com/office/powerpoint/2010/main" val="1241243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B5FF0F0-BB64-4434-BD5C-B3C1254592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5A6808-2D96-41E5-9C72-E021C0C0A2D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單元三｜研究設計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7DE654-4662-418E-B47A-447BE76D6AF2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因果語氣與證據邊界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0E8EDA06-F5A6-46E8-B169-66E46B972345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F45CFD-DC9C-4B2C-9BFA-11C7758A2B61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8B907-2211-4DD2-B37E-8F8B542A24FB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可使用的表述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9CDA2C-D945-42B0-A6C6-BBB74BC4EB51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應避免的表述</a:t>
            </a:r>
          </a:p>
        </p:txBody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BF7496A9-8ABB-4A57-AD02-DFDEB8279F04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887891-6CCC-4B6D-8FA0-E3537A9CC40A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結果與預測一致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研究結果支持該解釋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在本課程與樣本中觀察到</a:t>
            </a:r>
            <a:endParaRPr sz="24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54F77F-CD6E-4D66-9205-C5FAC55EC348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證明介入有效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介入直接導致能力提升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結果可普遍套用所有課程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12D541-8C41-4F3D-805A-A96616684335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F2E5F1-E538-4D46-AEF3-74A707981DEE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8C81CA-0DBA-47F9-A8C8-ACAC24CE62A3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設計誠實與文字誠實必須同時存在</a:t>
            </a:r>
          </a:p>
        </p:txBody>
      </p:sp>
    </p:spTree>
    <p:extLst>
      <p:ext uri="{BB962C8B-B14F-4D97-AF65-F5344CB8AC3E}">
        <p14:creationId xmlns:p14="http://schemas.microsoft.com/office/powerpoint/2010/main" val="28836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FEB2F817-F94B-498D-8D5C-648E67A2F4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A1AEBD-4CEF-4E6F-A6D1-CE59FBE1F8FF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單元三｜研究設計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9487AC-61D5-433F-B85D-502F66336887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小樣本的主要證據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D0FC56E2-3DBB-4B57-8F94-B0EB520883B6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5E1F0E-8B4D-4499-997B-E0BA6895262D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24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62E66947-68B7-4AFD-893B-557B3BF797B8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931987-A18C-49D8-A213-35434684EF0F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16594E-D994-4D11-8C2F-F5A8C2A64B14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效果量與信賴區間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E7B73E1-E32A-497B-821E-6EE3A4754372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C96015-2AFA-4CF8-B4EB-EE52E5ED304D}"/>
              </a:ext>
            </a:extLst>
          </p:cNvPr>
          <p:cNvSpPr>
            <a:spLocks noGrp="1"/>
          </p:cNvSpPr>
          <p:nvPr/>
        </p:nvSpPr>
        <p:spPr>
          <a:xfrm>
            <a:off x="809625" y="24860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4AC746D-50DE-4304-9C46-858E21C4EA2C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個案軌跡與重複測量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453C492-B084-4C43-AA1B-8E949BBB4725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274051-91BF-425C-95D3-C4A15A99BDF9}"/>
              </a:ext>
            </a:extLst>
          </p:cNvPr>
          <p:cNvSpPr>
            <a:spLocks noGrp="1"/>
          </p:cNvSpPr>
          <p:nvPr/>
        </p:nvSpPr>
        <p:spPr>
          <a:xfrm>
            <a:off x="809625" y="31146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818A41-B14C-4C23-A51E-F6C54CA659A0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質性資料與反例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AA5468B-718E-48EC-9FA9-0105CFE135B5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FD84EB-432D-4C1D-809F-2C32E98FF314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D0B1DF-6CA3-4769-B144-CB0CBAE5E242}"/>
              </a:ext>
            </a:extLst>
          </p:cNvPr>
          <p:cNvSpPr>
            <a:spLocks noGrp="1"/>
          </p:cNvSpPr>
          <p:nvPr/>
        </p:nvSpPr>
        <p:spPr>
          <a:xfrm>
            <a:off x="1352550" y="36576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完整報告已執行的分析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B0412BEB-1E1B-4253-A41D-6DDB2F0DE942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323850" cy="3238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B1AA47-E600-48AF-B00C-19E56E413585}"/>
              </a:ext>
            </a:extLst>
          </p:cNvPr>
          <p:cNvSpPr>
            <a:spLocks noGrp="1"/>
          </p:cNvSpPr>
          <p:nvPr/>
        </p:nvSpPr>
        <p:spPr>
          <a:xfrm>
            <a:off x="809625" y="43719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5A5F16-A5D7-4772-B559-0E24AF3694D4}"/>
              </a:ext>
            </a:extLst>
          </p:cNvPr>
          <p:cNvSpPr>
            <a:spLocks noGrp="1"/>
          </p:cNvSpPr>
          <p:nvPr/>
        </p:nvSpPr>
        <p:spPr>
          <a:xfrm>
            <a:off x="1352550" y="42862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不以單一顯著性作為核心結論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BCD2B5-564D-4C59-844C-57A4CF877FBD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701AC97-B201-4343-B33F-BBBE210F83DE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FCDDA4-219A-4512-B195-16C50A6972E7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小樣本更需要呈現不確定性與個案差異</a:t>
            </a:r>
          </a:p>
        </p:txBody>
      </p:sp>
    </p:spTree>
    <p:extLst>
      <p:ext uri="{BB962C8B-B14F-4D97-AF65-F5344CB8AC3E}">
        <p14:creationId xmlns:p14="http://schemas.microsoft.com/office/powerpoint/2010/main" val="103426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066503C7-EB1F-4D7B-9A9A-397D37B562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3C3494-4FF4-4997-9B71-A656A501BB3F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單元三｜研究設計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361EAA-D91B-4354-821A-DC33C5B749B5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教師兼研究者的角色處理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9AFF227F-9950-4B6A-8900-9B8C9E47FB26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600FCF-E35C-4C22-BCC0-E23B7E575A7E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89C322-5CF2-4050-BD7D-39227ED20459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C4EE06-439A-4182-B4D8-6E6821658F0B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E8ABC0B7-8E9E-4389-B5C8-7BA38F947E60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41ED22-F314-43BA-ACFC-3F939CA76360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3F1FFC-96BE-4343-B882-4C2C93B152A8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說明研究同意與成績的分離方式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B8DDC20-1255-4F8B-B960-A10218E11A39}"/>
              </a:ext>
            </a:extLst>
          </p:cNvPr>
          <p:cNvSpPr>
            <a:spLocks noGrp="1"/>
          </p:cNvSpPr>
          <p:nvPr/>
        </p:nvSpPr>
        <p:spPr>
          <a:xfrm>
            <a:off x="800100" y="251460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0C38C0-069B-4EC3-A9BA-9554431C00A1}"/>
              </a:ext>
            </a:extLst>
          </p:cNvPr>
          <p:cNvSpPr>
            <a:spLocks noGrp="1"/>
          </p:cNvSpPr>
          <p:nvPr/>
        </p:nvSpPr>
        <p:spPr>
          <a:xfrm>
            <a:off x="809625" y="25812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6EB6BE-720C-42B5-B355-91C87C685345}"/>
              </a:ext>
            </a:extLst>
          </p:cNvPr>
          <p:cNvSpPr>
            <a:spLocks noGrp="1"/>
          </p:cNvSpPr>
          <p:nvPr/>
        </p:nvSpPr>
        <p:spPr>
          <a:xfrm>
            <a:off x="1352550" y="24955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處理學生對教師權力的壓力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665A55E8-0A53-4D57-BB6A-6D879A261314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18DAF7-2D47-46B8-BBBE-5C289BFC0BCE}"/>
              </a:ext>
            </a:extLst>
          </p:cNvPr>
          <p:cNvSpPr>
            <a:spLocks noGrp="1"/>
          </p:cNvSpPr>
          <p:nvPr/>
        </p:nvSpPr>
        <p:spPr>
          <a:xfrm>
            <a:off x="809625" y="33051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8A4F6C-64DE-4A42-AA58-D45751E21BF5}"/>
              </a:ext>
            </a:extLst>
          </p:cNvPr>
          <p:cNvSpPr>
            <a:spLocks noGrp="1"/>
          </p:cNvSpPr>
          <p:nvPr/>
        </p:nvSpPr>
        <p:spPr>
          <a:xfrm>
            <a:off x="1352550" y="32194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交代研究者在介入與評量中的角色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4EFB95AF-C248-4435-8928-A0EC2D61FA97}"/>
              </a:ext>
            </a:extLst>
          </p:cNvPr>
          <p:cNvSpPr>
            <a:spLocks noGrp="1"/>
          </p:cNvSpPr>
          <p:nvPr/>
        </p:nvSpPr>
        <p:spPr>
          <a:xfrm>
            <a:off x="800100" y="396240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FADE36-19E8-400D-A936-A0C47134B6DE}"/>
              </a:ext>
            </a:extLst>
          </p:cNvPr>
          <p:cNvSpPr>
            <a:spLocks noGrp="1"/>
          </p:cNvSpPr>
          <p:nvPr/>
        </p:nvSpPr>
        <p:spPr>
          <a:xfrm>
            <a:off x="809625" y="40290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7F6B216-D6F5-4C24-92EF-4157F670C566}"/>
              </a:ext>
            </a:extLst>
          </p:cNvPr>
          <p:cNvSpPr>
            <a:spLocks noGrp="1"/>
          </p:cNvSpPr>
          <p:nvPr/>
        </p:nvSpPr>
        <p:spPr>
          <a:xfrm>
            <a:off x="1352550" y="39433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說明同儕與助理如何降低單一判斷偏差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D520CD-4BA6-41D6-9435-DF36262E91AD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DBA18B-447F-4E78-946F-E0D2B0C79297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C6A962-6515-4BC4-8542-038789E238BB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研究者角色不是附註，而是方法的一部分</a:t>
            </a:r>
          </a:p>
        </p:txBody>
      </p:sp>
    </p:spTree>
    <p:extLst>
      <p:ext uri="{BB962C8B-B14F-4D97-AF65-F5344CB8AC3E}">
        <p14:creationId xmlns:p14="http://schemas.microsoft.com/office/powerpoint/2010/main" val="18263932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157215C-A3E7-4A86-AABA-AE24570892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B6F1AF-8824-4258-B65B-EC570042872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單元三｜研究設計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7428DF-E198-405D-8E27-89AE28E73D7F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方法報告規範仍須補查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F8F4640A-74FF-4815-8F63-238BA9531F8C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A1621A-FC76-4FD9-82EF-DEAB3CA4481D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BF4DF4-3C91-476C-BFD4-C7C88423B5E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8EED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FF74EB-AEDF-4D2D-8DAF-36689F27B23E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待核</a:t>
            </a:r>
          </a:p>
        </p:txBody>
      </p:sp>
      <p:graphicFrame>
        <p:nvGraphicFramePr>
          <p:cNvPr id="19" name="表格 18"/>
          <p:cNvGraphicFramePr/>
          <p:nvPr>
            <p:extLst>
              <p:ext uri="{D42A27DB-BD31-4B8C-83A1-F6EECF244321}">
                <p14:modId xmlns:p14="http://schemas.microsoft.com/office/powerpoint/2010/main" val="1039107669"/>
              </p:ext>
            </p:extLst>
          </p:nvPr>
        </p:nvGraphicFramePr>
        <p:xfrm>
          <a:off x="628650" y="1714500"/>
          <a:ext cx="10896600" cy="2857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7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研究設計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可能參考的規範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正式投影前的工作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非隨機介入研究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TREND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查正式出處、最新版本與適用範圍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質性訪談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COREQ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確認是否符合資料蒐集與分析方法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質性研究報告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SRQR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核對條目與期刊要求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7AAA4A96-B072-44D7-B5F7-14BE419A7C8E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A6CE63-CE73-4114-BC3C-89571C036CAD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E40E0E-7AB0-471F-BD7D-1962E300EE85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講義只列名稱，不附年份與引用，避免假精確</a:t>
            </a:r>
          </a:p>
        </p:txBody>
      </p:sp>
    </p:spTree>
    <p:extLst>
      <p:ext uri="{BB962C8B-B14F-4D97-AF65-F5344CB8AC3E}">
        <p14:creationId xmlns:p14="http://schemas.microsoft.com/office/powerpoint/2010/main" val="1940944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E17DF32-BD59-47DC-8792-C958CFF1C2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48250" cy="685800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2BA573-651F-434C-AE7E-9B654D02C68D}"/>
              </a:ext>
            </a:extLst>
          </p:cNvPr>
          <p:cNvSpPr>
            <a:spLocks noGrp="1"/>
          </p:cNvSpPr>
          <p:nvPr/>
        </p:nvSpPr>
        <p:spPr>
          <a:xfrm>
            <a:off x="647700" y="8001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UNIT 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B8FF84-85F5-4DB3-B77A-C885A52B1300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3714750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結案、成果報告與寫作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D73FE1-DE2D-4059-B29A-E410993DFB47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3714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rPr>
              <a:t>同一組資料服務不同讀者，但成果報告與期刊稿不要混成一份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EE0FB82-7754-45F8-BAD5-AFE8CE78EEB6}"/>
              </a:ext>
            </a:extLst>
          </p:cNvPr>
          <p:cNvSpPr>
            <a:spLocks noGrp="1"/>
          </p:cNvSpPr>
          <p:nvPr/>
        </p:nvSpPr>
        <p:spPr>
          <a:xfrm>
            <a:off x="4533900" y="64198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720874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B42BA213-D4A8-49B5-B306-535C045965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51EAC9-3921-494F-8B17-122B6CE2F561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單元四｜結案與成果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76D1D8-971C-4DC2-A202-6F3AA3B7BA90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結案與公開節點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651FDAC0-5B19-4143-A305-0E21F3597914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4ED617-68AC-49EF-B5D5-F278706EB9B9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B8FE01-C305-4D7F-A9EF-FFADCFBD014A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E4F2E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DA531E-2970-47D5-8FB1-CDD3EC37931F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已查證</a:t>
            </a:r>
          </a:p>
        </p:txBody>
      </p:sp>
      <p:graphicFrame>
        <p:nvGraphicFramePr>
          <p:cNvPr id="19" name="表格 18"/>
          <p:cNvGraphicFramePr/>
          <p:nvPr>
            <p:extLst>
              <p:ext uri="{D42A27DB-BD31-4B8C-83A1-F6EECF244321}">
                <p14:modId xmlns:p14="http://schemas.microsoft.com/office/powerpoint/2010/main" val="3843482323"/>
              </p:ext>
            </p:extLst>
          </p:nvPr>
        </p:nvGraphicFramePr>
        <p:xfrm>
          <a:off x="628650" y="1714500"/>
          <a:ext cx="10896600" cy="352425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節點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規定摘要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使用時的限制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結案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計畫結束後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2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個月內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簽約文件可能另有條件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成果報告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個月內置於圖書館或機構典藏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各校流程需另查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延後公開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因專利、智財或期刊發表得申請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最長自結束日起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2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年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成果交流會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須參加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未強制投稿期刊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99FBEBA-FE5B-4365-ACD1-79D860BD8DB4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E71EAF-FD5D-4705-A7EB-F20F3D3F60A7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552D29-E9A9-4EAC-B82C-044474D14638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以上為作業要點摘要，簽約文件優先</a:t>
            </a:r>
          </a:p>
        </p:txBody>
      </p:sp>
    </p:spTree>
    <p:extLst>
      <p:ext uri="{BB962C8B-B14F-4D97-AF65-F5344CB8AC3E}">
        <p14:creationId xmlns:p14="http://schemas.microsoft.com/office/powerpoint/2010/main" val="113695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0CC022C-730B-4074-8C51-5FC03FCD59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F8D5AD-B730-4732-B5DE-19682F75E17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單元四｜結案與成果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44E32A-3C05-49D8-B36E-E5AC56961A08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成果報告與期刊稿的分工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CB636795-9018-478C-BF67-27BC6FE8ADC4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E0A81B-6205-4672-9C5F-6D940F19EF4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29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1508712056"/>
              </p:ext>
            </p:extLst>
          </p:nvPr>
        </p:nvGraphicFramePr>
        <p:xfrm>
          <a:off x="628650" y="1714500"/>
          <a:ext cx="10896600" cy="2381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文件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主要讀者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寫作重點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建議處理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成果報告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補助機關、校內與公開讀者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完整過程、執行紀錄與成果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保留行政節點與附件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期刊稿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特定領域審查者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問題、論證、方法與貢獻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依目標刊重組並刪減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DB619AC7-2B3F-4012-92AA-8585BD64F665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ED3221-A5F7-4526-AA72-0446DAC8A80A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7BCBF7-4D11-4759-8748-78D1B0C9E691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共用資料與圖表，不共用同一份文件</a:t>
            </a:r>
          </a:p>
        </p:txBody>
      </p:sp>
    </p:spTree>
    <p:extLst>
      <p:ext uri="{BB962C8B-B14F-4D97-AF65-F5344CB8AC3E}">
        <p14:creationId xmlns:p14="http://schemas.microsoft.com/office/powerpoint/2010/main" val="2030353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0F49312-F014-4614-84E8-5DE6D5A8BF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FB6E3E-BD63-4B94-8001-41FD392892D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單元四｜結案與成果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E9D9B9-7E3E-4A04-83E2-1ADC8120EE8D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公開報告與重複發表風險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87569D90-6EB4-4063-A927-F4B039D4A458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A725CC-90FC-4320-96CB-6ADF660B4A9B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257388-0DBD-47B9-9BA7-4D173017BC7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978EAB-B913-4266-901A-A5B5030F7E4D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85FADA-0719-4AB4-AA18-02CE623F86BA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投稿前要查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185816-A8EE-47F9-AF20-19128BCB1A37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可採取的做法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0B9AB761-B6C7-454B-8056-1E922E9A4A66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04F681-63E7-4F62-9B25-E5FC78DC72FE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期刊如何處理公開報告、學位論文與會議論文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是否要求在投稿信揭露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預印本與機構典藏政策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56CB82-C084-4BC3-BED3-B4CBCB7E022E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必要時申請延後公開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投稿信揭露成果報告存在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重寫論證並清楚區分文件目的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03271E-D282-44F6-938D-F691B1B7F982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2BAF9D-4DF5-451D-B196-066C2D910E2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A376CC-6D4D-48EF-A736-2BA48035616E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多數期刊的做法不能一概而論，以目標刊政策為準</a:t>
            </a:r>
          </a:p>
        </p:txBody>
      </p:sp>
    </p:spTree>
    <p:extLst>
      <p:ext uri="{BB962C8B-B14F-4D97-AF65-F5344CB8AC3E}">
        <p14:creationId xmlns:p14="http://schemas.microsoft.com/office/powerpoint/2010/main" val="1602135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16DA579E-87A0-48CD-A471-21A9D4013E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74C110-B405-495C-9B12-1343D715D889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單元四｜結案與成果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13CF55-674E-49D4-BB19-C9D99F25F6CE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執行期就開始寫作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B6A233E7-7208-4276-B671-A324D9648C82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B27EDB-158D-40A2-8856-3F94BAE70FF0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31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DB0D950-CB8E-443D-A923-E4655A3DA666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20292F-5A1A-46E1-A024-C0F80F895FD5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633BB1-8413-472D-96C4-79BE48F341EB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計畫完成時保留緒論、文獻與方法初稿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9CCC838-1991-465D-92CA-735FB9D090A4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969A26-F4C4-41BD-AC1E-FCF788AC09CD}"/>
              </a:ext>
            </a:extLst>
          </p:cNvPr>
          <p:cNvSpPr>
            <a:spLocks noGrp="1"/>
          </p:cNvSpPr>
          <p:nvPr/>
        </p:nvSpPr>
        <p:spPr>
          <a:xfrm>
            <a:off x="809625" y="24860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DCEDAE-3B7E-4CE1-BF74-8454B28E19D8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資料蒐集中同步補寫方法細節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A264D231-2D7C-4370-BBEF-EAFDFC72391E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4FDF78-E5C8-45C6-988E-FC4CE8C4E120}"/>
              </a:ext>
            </a:extLst>
          </p:cNvPr>
          <p:cNvSpPr>
            <a:spLocks noGrp="1"/>
          </p:cNvSpPr>
          <p:nvPr/>
        </p:nvSpPr>
        <p:spPr>
          <a:xfrm>
            <a:off x="809625" y="31146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1D91FE-4C6F-4799-9455-CEDE1B880040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分析後完成結果與討論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2C98C1B-1BA2-4105-B423-3DB56F1D28E4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DB887A-6297-43CB-BC85-6B22CAFACDDD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1E71FF-DF40-4B09-8212-FB5EDDA52A01}"/>
              </a:ext>
            </a:extLst>
          </p:cNvPr>
          <p:cNvSpPr>
            <a:spLocks noGrp="1"/>
          </p:cNvSpPr>
          <p:nvPr/>
        </p:nvSpPr>
        <p:spPr>
          <a:xfrm>
            <a:off x="1352550" y="36576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中文版拆成成果報告與期刊稿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63B2C3CA-76B9-49F9-8480-9236CDF97736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323850" cy="3238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60635D-F4A6-42D9-8319-1B1C0AD07DF5}"/>
              </a:ext>
            </a:extLst>
          </p:cNvPr>
          <p:cNvSpPr>
            <a:spLocks noGrp="1"/>
          </p:cNvSpPr>
          <p:nvPr/>
        </p:nvSpPr>
        <p:spPr>
          <a:xfrm>
            <a:off x="809625" y="43719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2E51F8-68D6-4319-BE1B-6D8E9B1CE711}"/>
              </a:ext>
            </a:extLst>
          </p:cNvPr>
          <p:cNvSpPr>
            <a:spLocks noGrp="1"/>
          </p:cNvSpPr>
          <p:nvPr/>
        </p:nvSpPr>
        <p:spPr>
          <a:xfrm>
            <a:off x="1352550" y="42862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英文稿依目標刊重新寫作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228864-6DFC-406A-8C4E-11A1417EDD4E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FFFE7FE-194D-4B52-89A5-C607196C4FB2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68636EC-2AF1-46D3-8831-3889BD8CF1AA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及早寫作的目的，是保存方法細節，不是提早固定結論</a:t>
            </a:r>
          </a:p>
        </p:txBody>
      </p:sp>
    </p:spTree>
    <p:extLst>
      <p:ext uri="{BB962C8B-B14F-4D97-AF65-F5344CB8AC3E}">
        <p14:creationId xmlns:p14="http://schemas.microsoft.com/office/powerpoint/2010/main" val="2110353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7F3219AC-3522-49A4-B1E0-E8AE21CBFD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3C957E-7523-4F28-91CC-E1B88BED2F9D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單元四｜結案與成果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368DE3-65E3-49C1-BAB6-F4480DBDB045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成果報告與投稿的分流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80B2C19-B481-4E34-9A94-D7082B4EBFB3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C9ACF57-214E-438E-A8B7-1362D7C854BC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D552B8-9D69-4B7C-BF1D-0841E0AB230E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75" b="1">
                <a:solidFill>
                  <a:srgbClr val="0B1F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B1F33"/>
                </a:solidFill>
                <a:latin typeface="Arial Unicode MS"/>
                <a:ea typeface="Arial Unicode MS"/>
                <a:cs typeface="Arial Unicode MS"/>
              </a:rPr>
              <a:t>同一組已清理資料與圖表</a:t>
            </a:r>
          </a:p>
        </p:txBody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0BBC06B4-7B54-4F9A-9F32-598277C3DB4F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9525" cy="685800"/>
          </a:xfrm>
          <a:prstGeom prst="line">
            <a:avLst/>
          </a:prstGeom>
          <a:noFill/>
          <a:ln w="2857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A1D262A6-9290-42D8-951A-8AD78CC336C1}"/>
              </a:ext>
            </a:extLst>
          </p:cNvPr>
          <p:cNvSpPr>
            <a:spLocks noGrp="1"/>
          </p:cNvSpPr>
          <p:nvPr/>
        </p:nvSpPr>
        <p:spPr>
          <a:xfrm>
            <a:off x="3143250" y="3238500"/>
            <a:ext cx="5905500" cy="9525"/>
          </a:xfrm>
          <a:prstGeom prst="line">
            <a:avLst/>
          </a:prstGeom>
          <a:noFill/>
          <a:ln w="2857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直線接點 8">
            <a:extLst>
              <a:ext uri="{FF2B5EF4-FFF2-40B4-BE49-F238E27FC236}">
                <a16:creationId xmlns:a16="http://schemas.microsoft.com/office/drawing/2014/main" id="{B76EEF55-585D-4046-B05E-87338755AEB9}"/>
              </a:ext>
            </a:extLst>
          </p:cNvPr>
          <p:cNvSpPr>
            <a:spLocks noGrp="1"/>
          </p:cNvSpPr>
          <p:nvPr/>
        </p:nvSpPr>
        <p:spPr>
          <a:xfrm>
            <a:off x="3143250" y="3238500"/>
            <a:ext cx="9525" cy="666750"/>
          </a:xfrm>
          <a:prstGeom prst="line">
            <a:avLst/>
          </a:prstGeom>
          <a:noFill/>
          <a:ln w="2857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F02681EF-795E-4929-8F67-12315DA6EBDD}"/>
              </a:ext>
            </a:extLst>
          </p:cNvPr>
          <p:cNvSpPr>
            <a:spLocks noGrp="1"/>
          </p:cNvSpPr>
          <p:nvPr/>
        </p:nvSpPr>
        <p:spPr>
          <a:xfrm>
            <a:off x="9048750" y="3238500"/>
            <a:ext cx="9525" cy="666750"/>
          </a:xfrm>
          <a:prstGeom prst="line">
            <a:avLst/>
          </a:prstGeom>
          <a:noFill/>
          <a:ln w="2857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A5A0E4-9B1A-4146-B876-DD6E3C23168F}"/>
              </a:ext>
            </a:extLst>
          </p:cNvPr>
          <p:cNvSpPr>
            <a:spLocks noGrp="1"/>
          </p:cNvSpPr>
          <p:nvPr/>
        </p:nvSpPr>
        <p:spPr>
          <a:xfrm>
            <a:off x="1809750" y="41148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成果報告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9DA4DB4-DEF6-4358-B3F3-3416D1C8DBF6}"/>
              </a:ext>
            </a:extLst>
          </p:cNvPr>
          <p:cNvSpPr>
            <a:spLocks noGrp="1"/>
          </p:cNvSpPr>
          <p:nvPr/>
        </p:nvSpPr>
        <p:spPr>
          <a:xfrm>
            <a:off x="7715250" y="4114800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356FA1"/>
                </a:solidFill>
                <a:latin typeface="Arial Unicode MS"/>
                <a:ea typeface="Arial Unicode MS"/>
                <a:cs typeface="Arial Unicode MS"/>
              </a:rPr>
              <a:t>期刊稿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F8DBCC-DFB4-4CFB-BD0A-D7893BC8D43F}"/>
              </a:ext>
            </a:extLst>
          </p:cNvPr>
          <p:cNvSpPr>
            <a:spLocks noGrp="1"/>
          </p:cNvSpPr>
          <p:nvPr/>
        </p:nvSpPr>
        <p:spPr>
          <a:xfrm>
            <a:off x="1485900" y="46863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完整、可追溯、符合行政節點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BFAA96-46FB-4372-B891-63BEE3C6631D}"/>
              </a:ext>
            </a:extLst>
          </p:cNvPr>
          <p:cNvSpPr>
            <a:spLocks noGrp="1"/>
          </p:cNvSpPr>
          <p:nvPr/>
        </p:nvSpPr>
        <p:spPr>
          <a:xfrm>
            <a:off x="7391400" y="468630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聚焦、可辯證、符合目標刊定位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368A60-98FB-43B0-B829-46A6A49933CA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E8F0E8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AE25B6-E3E6-477D-A2E4-1C299FD9752C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FB1747-4B38-49C9-B63D-3FAFBB6BBDD8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任何公開策略都要同時考慮行政規定、智財與期刊政策</a:t>
            </a:r>
          </a:p>
        </p:txBody>
      </p:sp>
    </p:spTree>
    <p:extLst>
      <p:ext uri="{BB962C8B-B14F-4D97-AF65-F5344CB8AC3E}">
        <p14:creationId xmlns:p14="http://schemas.microsoft.com/office/powerpoint/2010/main" val="1045300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9C12048-2528-4D37-A92A-858005E861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048250" cy="6858000"/>
          </a:xfrm>
          <a:prstGeom prst="rect">
            <a:avLst/>
          </a:prstGeom>
          <a:solidFill>
            <a:srgbClr val="0B1F33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DD0E73-E853-4C37-AB2C-18F601A50E7E}"/>
              </a:ext>
            </a:extLst>
          </p:cNvPr>
          <p:cNvSpPr>
            <a:spLocks noGrp="1"/>
          </p:cNvSpPr>
          <p:nvPr/>
        </p:nvSpPr>
        <p:spPr>
          <a:xfrm>
            <a:off x="647700" y="800100"/>
            <a:ext cx="3619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UNIT 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322F61-E526-4D4A-AFDB-BE308545D604}"/>
              </a:ext>
            </a:extLst>
          </p:cNvPr>
          <p:cNvSpPr>
            <a:spLocks noGrp="1"/>
          </p:cNvSpPr>
          <p:nvPr/>
        </p:nvSpPr>
        <p:spPr>
          <a:xfrm>
            <a:off x="647700" y="1600200"/>
            <a:ext cx="3714750" cy="1181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投稿、AI 揭露與修訂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41E2B0-5936-45BB-965E-7583527D25FE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371475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rPr>
              <a:t>選刊看範圍與政策，AI 協助需留下用途、版本與人工裁決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EEA8AF-509B-4EC6-8D67-5E74A18D7CC6}"/>
              </a:ext>
            </a:extLst>
          </p:cNvPr>
          <p:cNvSpPr>
            <a:spLocks noGrp="1"/>
          </p:cNvSpPr>
          <p:nvPr/>
        </p:nvSpPr>
        <p:spPr>
          <a:xfrm>
            <a:off x="4533900" y="6419850"/>
            <a:ext cx="3619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0749781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B195DAE-E809-45CA-9E46-F46BD476F6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79776E-9D7D-4468-8F00-CE9D9B2311E4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單元五｜投稿管理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A81250-54CC-48CA-AFFF-D22EEA763A73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投稿資料庫的核心欄位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9A1AB742-2078-466A-9D77-0DACF967FD74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4D6D68-918F-406B-97EB-68D3AA13F871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34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1800540074"/>
              </p:ext>
            </p:extLst>
          </p:nvPr>
        </p:nvGraphicFramePr>
        <p:xfrm>
          <a:off x="628650" y="1714500"/>
          <a:ext cx="10896600" cy="352425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欄位群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必要欄位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管理目的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稿件與期刊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稿件編號、目標期刊、檔案連結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保持單一版本來源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進度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狀態、修訂輪次、負責人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看見工作在哪一站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下一步動作、下一步日期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避免只記錄而不推進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合規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倫理編號、AI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紀錄、揭露聲明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投稿時快速組成投稿包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B87AF4B7-9C5C-42A2-86C6-25628333749E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366280-5F2B-49B4-8E57-DFA5BA6E9ACC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3A7710-4C62-42D4-BBD9-89F88E1B3E3B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『下一步動作』與『下一步日期』必填</a:t>
            </a:r>
          </a:p>
        </p:txBody>
      </p:sp>
    </p:spTree>
    <p:extLst>
      <p:ext uri="{BB962C8B-B14F-4D97-AF65-F5344CB8AC3E}">
        <p14:creationId xmlns:p14="http://schemas.microsoft.com/office/powerpoint/2010/main" val="1823033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A5E5FD5A-673E-4CB5-B405-F7FA68DC7C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055AAF-DD04-404E-9CE7-77A7E8868FC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單元五｜投稿管理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EEC55E-FF40-47A0-B7D6-243C53FE177C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每週投稿檢視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F819AD83-6459-427A-9ED5-921B90B17968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C7F059-DBF4-4453-8E97-0F80E7B6B268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BCEE158-8F45-48FD-8A02-C40597620E59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52F7D8-C9C4-475F-947A-02A206AAFD47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E263CF82-2BEE-482A-A2BB-53A3D47A4C2C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5AFA19-8F68-45F2-BC21-18A5686274E5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DA13C4-272F-4D3C-AE3B-CE51D4361D70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固定時間查看逾期的下一步日期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FAA5EF2-2505-468C-89D5-A7BDF6E90899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443B28-6C72-46DB-8C5F-F3B1E890BBB6}"/>
              </a:ext>
            </a:extLst>
          </p:cNvPr>
          <p:cNvSpPr>
            <a:spLocks noGrp="1"/>
          </p:cNvSpPr>
          <p:nvPr/>
        </p:nvSpPr>
        <p:spPr>
          <a:xfrm>
            <a:off x="809625" y="26003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C735B3-4EBC-48E8-BE0C-1859776AA358}"/>
              </a:ext>
            </a:extLst>
          </p:cNvPr>
          <p:cNvSpPr>
            <a:spLocks noGrp="1"/>
          </p:cNvSpPr>
          <p:nvPr/>
        </p:nvSpPr>
        <p:spPr>
          <a:xfrm>
            <a:off x="1352550" y="25146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審查超過期刊公告時間時依官網指示聯絡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51BCDE0-CB14-4501-AC59-775657192667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9DC293-F26D-4F65-98D5-D61EB181ED8C}"/>
              </a:ext>
            </a:extLst>
          </p:cNvPr>
          <p:cNvSpPr>
            <a:spLocks noGrp="1"/>
          </p:cNvSpPr>
          <p:nvPr/>
        </p:nvSpPr>
        <p:spPr>
          <a:xfrm>
            <a:off x="809625" y="33432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C822FA-D9BD-4BB5-AE16-B36AB90AE3DD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退稿後 7 日內決定轉投或先修稿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820FDD12-6D07-4C3F-919A-A40DA5D3455B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48C2D8-6107-4957-8552-CA956C1F2A39}"/>
              </a:ext>
            </a:extLst>
          </p:cNvPr>
          <p:cNvSpPr>
            <a:spLocks noGrp="1"/>
          </p:cNvSpPr>
          <p:nvPr/>
        </p:nvSpPr>
        <p:spPr>
          <a:xfrm>
            <a:off x="809625" y="40862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17596F-9C39-4E81-88F8-636D41B580F7}"/>
              </a:ext>
            </a:extLst>
          </p:cNvPr>
          <p:cNvSpPr>
            <a:spLocks noGrp="1"/>
          </p:cNvSpPr>
          <p:nvPr/>
        </p:nvSpPr>
        <p:spPr>
          <a:xfrm>
            <a:off x="1352550" y="40005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限制同時進行中的稿件數量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2C612E-ED64-487D-A48A-4F16ED6E51FB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584B70-4135-449F-992C-9F034A9B60D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90DD137-466A-4891-B095-EBF42151986A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把流程管理好，不等於把學術判斷自動化</a:t>
            </a:r>
          </a:p>
        </p:txBody>
      </p:sp>
    </p:spTree>
    <p:extLst>
      <p:ext uri="{BB962C8B-B14F-4D97-AF65-F5344CB8AC3E}">
        <p14:creationId xmlns:p14="http://schemas.microsoft.com/office/powerpoint/2010/main" val="21431848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041D555-F52E-49E8-B5E8-4F28416B43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34BF46-50A2-4F95-B8B2-5EAA4017B32D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單元五｜期刊選擇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56F462-2FB6-4339-81DF-9DCCAC90CF1E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選刊檢核表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10C4485A-80B7-4378-A727-7785788CE839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3C69D7-7C4D-49BD-AEF2-BAD14DC223CA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36</a:t>
            </a:r>
          </a:p>
        </p:txBody>
      </p:sp>
      <p:graphicFrame>
        <p:nvGraphicFramePr>
          <p:cNvPr id="12" name="表格 11"/>
          <p:cNvGraphicFramePr/>
          <p:nvPr>
            <p:extLst>
              <p:ext uri="{D42A27DB-BD31-4B8C-83A1-F6EECF244321}">
                <p14:modId xmlns:p14="http://schemas.microsoft.com/office/powerpoint/2010/main" val="3609839339"/>
              </p:ext>
            </p:extLst>
          </p:nvPr>
        </p:nvGraphicFramePr>
        <p:xfrm>
          <a:off x="628650" y="1714500"/>
          <a:ext cx="10896600" cy="39052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面向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要確認的問題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證據來源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主題與稿件類型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近兩年是否刊登教學實踐或實務研究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期刊目錄與投稿須知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收錄與評比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是否在最新官方名單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官方資料庫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費用與開放取用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是否有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APC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與授權選項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期刊官網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倫理、資料與 AI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需要何種聲明與揭露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政策原文並保存日期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已公開報告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預印本與機構報告如何處理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投稿須知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4830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8BBFD9B-3DF0-4A6E-8D7D-3C8D041423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3E6129-9CCF-45FF-9677-568D23574F88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單元五｜期刊選擇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6B28AE-B035-49FB-A383-BA65A3DC90ED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國內期刊資訊的證據狀態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DCFA25B5-A702-434B-B6B0-7DE405938647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E28415-E073-4CBC-BAE2-784585D41E32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C6DCA0-8306-4358-8974-4D5AD4BC86D1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8EED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985ABC-BA1D-4765-BA77-77554CE721D1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待核</a:t>
            </a:r>
          </a:p>
        </p:txBody>
      </p:sp>
      <p:graphicFrame>
        <p:nvGraphicFramePr>
          <p:cNvPr id="19" name="表格 18"/>
          <p:cNvGraphicFramePr/>
          <p:nvPr>
            <p:extLst>
              <p:ext uri="{D42A27DB-BD31-4B8C-83A1-F6EECF244321}">
                <p14:modId xmlns:p14="http://schemas.microsoft.com/office/powerpoint/2010/main" val="3658118786"/>
              </p:ext>
            </p:extLst>
          </p:nvPr>
        </p:nvGraphicFramePr>
        <p:xfrm>
          <a:off x="628650" y="1714500"/>
          <a:ext cx="10896600" cy="30480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項目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目前可說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仍待確認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《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教學實踐與創新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》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國北教大期刊，刊名與英文名稱可由官網確認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創刊年、頻率與最新收錄狀態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《教學實踐研究》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目前無法確認發行單位與現況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需講者提供官網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TSSCI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2024.05.28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教育學門名單未列上述兩刊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是否已有更新名單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A582D63D-D94A-4226-8C33-3991F205B97E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E0C30D-F45F-49B9-ABFD-D14E2B3F7B89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BC9F73-74AE-4E83-9223-FF8A89F693AF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刊名與收錄狀態只使用最新官方資料</a:t>
            </a:r>
          </a:p>
        </p:txBody>
      </p:sp>
    </p:spTree>
    <p:extLst>
      <p:ext uri="{BB962C8B-B14F-4D97-AF65-F5344CB8AC3E}">
        <p14:creationId xmlns:p14="http://schemas.microsoft.com/office/powerpoint/2010/main" val="4340245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5FC87E46-41EE-460B-B670-129D2E4849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37890D-4A1F-44DA-B926-788CD9CC74D3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單元五｜期刊選擇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9A732C-C77F-4262-AB84-F28759F1E366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Desk rejection 的常見風險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F2037BB4-7ABC-4B7E-A9CC-F79711951AEC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6233D8-E148-485E-B45E-8E1F85687868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1A9FF2F-7C81-4259-AF8E-FC31A45633D4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E7BD8B-32C8-44BE-93AD-A52D8FE286BF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EF3906-ACC6-4C4A-AAA7-75E6EBF9A8D2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投稿前自查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15096B-CE8B-4298-B713-2E05453AE6F9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備妥轉投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6AB3B2FD-A0B1-4719-BABD-201AA7AE1B97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10B265-3722-4EBD-8878-640E6F8C0409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期刊範圍與稿件類型</a:t>
            </a:r>
            <a:endParaRPr sz="20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方法是否誠實處理小樣本</a:t>
            </a:r>
            <a:endParaRPr sz="20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倫理與</a:t>
            </a:r>
            <a:r>
              <a:rPr sz="2000" dirty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 AI </a:t>
            </a:r>
            <a:r>
              <a:rPr sz="200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揭露是否完整</a:t>
            </a:r>
            <a:endParaRPr sz="200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611045-1EA6-40F5-BE14-FA3D0A6BF780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A、B、C 三份目標刊清單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預先記錄格式與字數差異</a:t>
            </a:r>
          </a:p>
          <a:p>
            <a:pPr marL="228600" indent="-114300">
              <a:spcAft>
                <a:spcPts val="1400"/>
              </a:spcAft>
              <a:buChar char="•"/>
              <a:defRPr sz="15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判斷範圍問題或品質問題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FA7FA8-763E-4463-B4C3-9C94C9561DC3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FE2EE5-45C2-49FF-8AC9-B432183AFB70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6730C0-26B1-42A7-B3B1-B7821E68DD00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範圍不符可轉投，品質問題先修再投</a:t>
            </a:r>
          </a:p>
        </p:txBody>
      </p:sp>
    </p:spTree>
    <p:extLst>
      <p:ext uri="{BB962C8B-B14F-4D97-AF65-F5344CB8AC3E}">
        <p14:creationId xmlns:p14="http://schemas.microsoft.com/office/powerpoint/2010/main" val="11486095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9088857-3FF6-4222-A657-6928C58E3D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006E2B4-F510-46D3-BE2D-A093D1FD776A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單元五｜期刊選擇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BB118D-6D0C-4C04-AAB6-555D368E4C66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Springer Nature Transfer Desk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ED731A70-842B-4CA8-A6EB-34A533FEA3C0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EA80E4-580E-4727-ABE8-20CCCA8BEC83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39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ACA5CD-12EC-41F6-AD07-40A96B73EE3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E4F2E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8F2A3A5-0AE0-4FE0-8284-11C2A215D952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已查證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3C6D4FB7-4FD1-44BD-9A61-15772533CA47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15BCF92-5BF2-48A5-B37A-EC031469D29D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9E7379-4174-423A-B155-A17A7A9D0435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拒稿後可能建議同出版社的其他期刊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C97B72D6-AA61-4D40-84FC-B8D52F1CAC62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68F90CE-24BB-4B93-AA7A-C759AD5DBA30}"/>
              </a:ext>
            </a:extLst>
          </p:cNvPr>
          <p:cNvSpPr>
            <a:spLocks noGrp="1"/>
          </p:cNvSpPr>
          <p:nvPr/>
        </p:nvSpPr>
        <p:spPr>
          <a:xfrm>
            <a:off x="809625" y="26003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C9601A-E8FE-4F38-82C7-F37C955E2E27}"/>
              </a:ext>
            </a:extLst>
          </p:cNvPr>
          <p:cNvSpPr>
            <a:spLocks noGrp="1"/>
          </p:cNvSpPr>
          <p:nvPr/>
        </p:nvSpPr>
        <p:spPr>
          <a:xfrm>
            <a:off x="1352550" y="25146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審查意見可能隨稿轉送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BB993A-8713-4BAB-A8B5-539AB8F79EA8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81C2240-13B7-4374-9E70-5E2F83E6C3A7}"/>
              </a:ext>
            </a:extLst>
          </p:cNvPr>
          <p:cNvSpPr>
            <a:spLocks noGrp="1"/>
          </p:cNvSpPr>
          <p:nvPr/>
        </p:nvSpPr>
        <p:spPr>
          <a:xfrm>
            <a:off x="809625" y="33432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21B8C0-83A0-46DE-806D-14C5C5FB38E0}"/>
              </a:ext>
            </a:extLst>
          </p:cNvPr>
          <p:cNvSpPr>
            <a:spLocks noGrp="1"/>
          </p:cNvSpPr>
          <p:nvPr/>
        </p:nvSpPr>
        <p:spPr>
          <a:xfrm>
            <a:off x="1352550" y="32575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轉投仍須閱讀新刊投稿須知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2A09E1D-4A17-4349-969B-4D551335950A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C1EB65-3879-4081-9F65-CCCC9A3D4DA8}"/>
              </a:ext>
            </a:extLst>
          </p:cNvPr>
          <p:cNvSpPr>
            <a:spLocks noGrp="1"/>
          </p:cNvSpPr>
          <p:nvPr/>
        </p:nvSpPr>
        <p:spPr>
          <a:xfrm>
            <a:off x="809625" y="40862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C3C540-8987-4D87-96C1-D0B51E4A5D69}"/>
              </a:ext>
            </a:extLst>
          </p:cNvPr>
          <p:cNvSpPr>
            <a:spLocks noGrp="1"/>
          </p:cNvSpPr>
          <p:nvPr/>
        </p:nvSpPr>
        <p:spPr>
          <a:xfrm>
            <a:off x="1352550" y="40005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是否需同意、是否保證送審與參與期刊仍待逐案確認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30406AF-4DBF-4978-A317-105F2B077FA9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82F79B-FBEA-410D-B01B-AB659F686A74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6C619D-DF63-42BE-B7A1-99AEF139C6FC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Transfer 是轉送服務，不是錄取或送審保證</a:t>
            </a:r>
          </a:p>
        </p:txBody>
      </p:sp>
    </p:spTree>
    <p:extLst>
      <p:ext uri="{BB962C8B-B14F-4D97-AF65-F5344CB8AC3E}">
        <p14:creationId xmlns:p14="http://schemas.microsoft.com/office/powerpoint/2010/main" val="17189464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CDAA4D13-D076-4BD9-9512-FF08AF1D32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2E342F-8ADA-45CB-BEC9-8A125D7D5F8F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單元五｜AI 揭露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02E163-0504-4B1C-935B-F7612075C9D3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揭露範圍按用途判斷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3F2AE381-185D-4A96-AD3B-6AB9A6934875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E731C5-8B88-47C9-8E66-EA618BB7EC9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647FF0-523E-4FC0-B169-E0A56402E34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D937CB-0136-497F-B172-0B64BD6122DC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合理推論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98166F69-F0BB-445A-B015-8CC8364102FA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76D691-6546-4759-BDD3-9B94AA99D566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5D6BDE-E75D-4AD8-AB42-F09F5AF035B1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讀目標刊 AI 政策原文並保存日期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29DEC7B8-9802-419B-8509-E32988ED65F1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341F19C-1475-41F0-A79D-68E463034C1E}"/>
              </a:ext>
            </a:extLst>
          </p:cNvPr>
          <p:cNvSpPr>
            <a:spLocks noGrp="1"/>
          </p:cNvSpPr>
          <p:nvPr/>
        </p:nvSpPr>
        <p:spPr>
          <a:xfrm>
            <a:off x="809625" y="24860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305617-A49F-40D5-AA07-5F3E121832EA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把使用分成文字、搜尋、分析、程式、圖表與批判驗證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212621B-BE66-4900-985B-42D140CDC9AB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8DA99A-1E10-43DE-99C2-B49E14B5E1A6}"/>
              </a:ext>
            </a:extLst>
          </p:cNvPr>
          <p:cNvSpPr>
            <a:spLocks noGrp="1"/>
          </p:cNvSpPr>
          <p:nvPr/>
        </p:nvSpPr>
        <p:spPr>
          <a:xfrm>
            <a:off x="809625" y="31146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C970D2-770F-4429-B29B-1CEC8B02D1AF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逐項對照哪些須揭露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0C257AEB-2F63-4DDA-ABB3-59CD19FEA6BF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BD44D63-9142-4598-B769-C0282DC7865C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49E67B-3FA9-4E53-A27F-57003F05E991}"/>
              </a:ext>
            </a:extLst>
          </p:cNvPr>
          <p:cNvSpPr>
            <a:spLocks noGrp="1"/>
          </p:cNvSpPr>
          <p:nvPr/>
        </p:nvSpPr>
        <p:spPr>
          <a:xfrm>
            <a:off x="1352550" y="36576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不確定時傾向揭露或詢問編輯部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95344955-8366-4CDB-9E6C-6BCD04385433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323850" cy="3238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A60187-D907-4F0E-9CF0-74E21BB539E7}"/>
              </a:ext>
            </a:extLst>
          </p:cNvPr>
          <p:cNvSpPr>
            <a:spLocks noGrp="1"/>
          </p:cNvSpPr>
          <p:nvPr/>
        </p:nvSpPr>
        <p:spPr>
          <a:xfrm>
            <a:off x="809625" y="43719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D43A67-C41D-4659-9CC8-F7B358368033}"/>
              </a:ext>
            </a:extLst>
          </p:cNvPr>
          <p:cNvSpPr>
            <a:spLocks noGrp="1"/>
          </p:cNvSpPr>
          <p:nvPr/>
        </p:nvSpPr>
        <p:spPr>
          <a:xfrm>
            <a:off x="1352550" y="42862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保存工具、版本、輸入、輸出與人工裁決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8C16FB8-F25E-4830-BEA9-5F57912B2652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6D246B-ACB6-4CAD-AB41-E84F07C8FCDD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A02E978-BFDC-4916-9F28-F9408CACF033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工具名稱相同，用途不同，揭露要求可能不同</a:t>
            </a:r>
          </a:p>
        </p:txBody>
      </p:sp>
    </p:spTree>
    <p:extLst>
      <p:ext uri="{BB962C8B-B14F-4D97-AF65-F5344CB8AC3E}">
        <p14:creationId xmlns:p14="http://schemas.microsoft.com/office/powerpoint/2010/main" val="1223082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EC60BE9D-DDE4-4B6F-9231-09B5BEF871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DCBDFD-9EA6-44A2-B7D0-8291D0007B5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單元五｜AI 揭露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04286F-7F3D-433B-9572-E06EC6851777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Nature Portfolio 政策邊界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140FAE67-86EB-403C-ACD7-E863FCACFF32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D6E0F1-6977-4BB9-9D70-7141D8F2E2A9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ED45E1-06A0-4AE5-95C4-D3B0E3ABD10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E4F2E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CE9C5C-0516-411E-956F-E2DBDCB7CD48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已查證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5F7125-E9C0-44D1-A74C-DE08745227CB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已查證重點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C99D6D-B03F-4EC5-B9FD-12252E014579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不可外推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F8D55534-D7A7-4EEA-B986-63D8F1996208}"/>
              </a:ext>
            </a:extLst>
          </p:cNvPr>
          <p:cNvSpPr>
            <a:spLocks noGrp="1"/>
          </p:cNvSpPr>
          <p:nvPr/>
        </p:nvSpPr>
        <p:spPr>
          <a:xfrm>
            <a:off x="6076950" y="1752600"/>
            <a:ext cx="9525" cy="3733800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C80004-C5E7-4EDB-9F7D-634BA8A029F7}"/>
              </a:ext>
            </a:extLst>
          </p:cNvPr>
          <p:cNvSpPr>
            <a:spLocks noGrp="1"/>
          </p:cNvSpPr>
          <p:nvPr/>
        </p:nvSpPr>
        <p:spPr>
          <a:xfrm>
            <a:off x="74295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LLM 不能列為作者</a:t>
            </a:r>
          </a:p>
          <a:p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一般 AI 輔助文字潤飾原則上不需揭露</a:t>
            </a:r>
          </a:p>
          <a:p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其他內容、分析或設計使用須說明</a:t>
            </a:r>
          </a:p>
          <a:p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審稿者與編輯不可把稿件上傳生成式 AI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6DE0C9-217F-4AF0-A352-BF0582D80948}"/>
              </a:ext>
            </a:extLst>
          </p:cNvPr>
          <p:cNvSpPr>
            <a:spLocks noGrp="1"/>
          </p:cNvSpPr>
          <p:nvPr/>
        </p:nvSpPr>
        <p:spPr>
          <a:xfrm>
            <a:off x="6553200" y="2324100"/>
            <a:ext cx="476250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不代表所有 Springer Nature 期刊</a:t>
            </a:r>
          </a:p>
          <a:p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不代表其他出版商或學科</a:t>
            </a:r>
          </a:p>
          <a:p>
            <a:pPr marL="228600" indent="-114300">
              <a:spcAft>
                <a:spcPts val="1400"/>
              </a:spcAft>
              <a:buChar char="•"/>
              <a:defRPr sz="135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揭露位置與格式仍查目標刊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C43869-CF23-4505-8FFE-D28020D11E45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38D6E8-7936-4EA6-B774-5BE61C008F7D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C7366C-18E2-4CA8-8BD8-0F5B4155E085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查證日期 2026-09-29，正式投稿前重新核對</a:t>
            </a:r>
          </a:p>
        </p:txBody>
      </p:sp>
    </p:spTree>
    <p:extLst>
      <p:ext uri="{BB962C8B-B14F-4D97-AF65-F5344CB8AC3E}">
        <p14:creationId xmlns:p14="http://schemas.microsoft.com/office/powerpoint/2010/main" val="16257322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E2836C16-B2FC-449F-B07A-60B3C75E22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E631BB-C03D-4351-B9A9-F3F132AB4CF3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單元五｜AI 揭露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9F3E97-BE1C-4F7D-B551-FF184D034FA2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多模型交叉批判流程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42DD383A-2D24-47B4-9CD6-71FC0BB838EC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D1B895-AD92-404A-A610-EC92774C0630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42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DF9C2275-B88E-498A-A15A-08323B8D31F7}"/>
              </a:ext>
            </a:extLst>
          </p:cNvPr>
          <p:cNvSpPr>
            <a:spLocks noGrp="1"/>
          </p:cNvSpPr>
          <p:nvPr/>
        </p:nvSpPr>
        <p:spPr>
          <a:xfrm>
            <a:off x="1190625" y="3009900"/>
            <a:ext cx="9429750" cy="9525"/>
          </a:xfrm>
          <a:prstGeom prst="line">
            <a:avLst/>
          </a:prstGeom>
          <a:noFill/>
          <a:ln w="2857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C1F8DAF-2CBD-4AAE-84C0-D69CD2AEBB08}"/>
              </a:ext>
            </a:extLst>
          </p:cNvPr>
          <p:cNvSpPr>
            <a:spLocks noGrp="1"/>
          </p:cNvSpPr>
          <p:nvPr/>
        </p:nvSpPr>
        <p:spPr>
          <a:xfrm>
            <a:off x="952500" y="2762250"/>
            <a:ext cx="495300" cy="49530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5A3235-2AED-4D3B-AA0E-866395EAC459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E63ADA3-8C13-4BC0-B12E-7D959DD0C8ED}"/>
              </a:ext>
            </a:extLst>
          </p:cNvPr>
          <p:cNvSpPr>
            <a:spLocks noGrp="1"/>
          </p:cNvSpPr>
          <p:nvPr/>
        </p:nvSpPr>
        <p:spPr>
          <a:xfrm>
            <a:off x="2857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原文、來源包</a:t>
            </a:r>
            <a:endParaRPr sz="2000" b="1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與規則</a:t>
            </a:r>
            <a:endParaRPr sz="2000" b="1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5911B438-D7F5-470C-985B-D12BC639E995}"/>
              </a:ext>
            </a:extLst>
          </p:cNvPr>
          <p:cNvSpPr>
            <a:spLocks noGrp="1"/>
          </p:cNvSpPr>
          <p:nvPr/>
        </p:nvSpPr>
        <p:spPr>
          <a:xfrm>
            <a:off x="3429000" y="2762250"/>
            <a:ext cx="495300" cy="49530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26065-7AEC-4D26-841B-3B9BF9353086}"/>
              </a:ext>
            </a:extLst>
          </p:cNvPr>
          <p:cNvSpPr>
            <a:spLocks noGrp="1"/>
          </p:cNvSpPr>
          <p:nvPr/>
        </p:nvSpPr>
        <p:spPr>
          <a:xfrm>
            <a:off x="34290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B6B21C-9A77-4A30-95B2-0003D8A50A27}"/>
              </a:ext>
            </a:extLst>
          </p:cNvPr>
          <p:cNvSpPr>
            <a:spLocks noGrp="1"/>
          </p:cNvSpPr>
          <p:nvPr/>
        </p:nvSpPr>
        <p:spPr>
          <a:xfrm>
            <a:off x="27622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第二模型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四欄審查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A11007B2-2BA0-48B0-A345-9810F435EE81}"/>
              </a:ext>
            </a:extLst>
          </p:cNvPr>
          <p:cNvSpPr>
            <a:spLocks noGrp="1"/>
          </p:cNvSpPr>
          <p:nvPr/>
        </p:nvSpPr>
        <p:spPr>
          <a:xfrm>
            <a:off x="5905500" y="2762250"/>
            <a:ext cx="495300" cy="49530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82A78A-0A4D-44D1-A612-4B6A67DAA833}"/>
              </a:ext>
            </a:extLst>
          </p:cNvPr>
          <p:cNvSpPr>
            <a:spLocks noGrp="1"/>
          </p:cNvSpPr>
          <p:nvPr/>
        </p:nvSpPr>
        <p:spPr>
          <a:xfrm>
            <a:off x="59055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101F5C-5D99-4115-B0B0-12AA7D0CDB7E}"/>
              </a:ext>
            </a:extLst>
          </p:cNvPr>
          <p:cNvSpPr>
            <a:spLocks noGrp="1"/>
          </p:cNvSpPr>
          <p:nvPr/>
        </p:nvSpPr>
        <p:spPr>
          <a:xfrm>
            <a:off x="52387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比較一致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與分歧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7EFA441-487C-4579-BE40-24472AA97503}"/>
              </a:ext>
            </a:extLst>
          </p:cNvPr>
          <p:cNvSpPr>
            <a:spLocks noGrp="1"/>
          </p:cNvSpPr>
          <p:nvPr/>
        </p:nvSpPr>
        <p:spPr>
          <a:xfrm>
            <a:off x="8382000" y="2762250"/>
            <a:ext cx="495300" cy="49530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346E11B-D13B-4AC8-AF8F-66E844FE33E1}"/>
              </a:ext>
            </a:extLst>
          </p:cNvPr>
          <p:cNvSpPr>
            <a:spLocks noGrp="1"/>
          </p:cNvSpPr>
          <p:nvPr/>
        </p:nvSpPr>
        <p:spPr>
          <a:xfrm>
            <a:off x="83820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A6A51D-AE3D-4E66-9A0F-3BDEAC367FF8}"/>
              </a:ext>
            </a:extLst>
          </p:cNvPr>
          <p:cNvSpPr>
            <a:spLocks noGrp="1"/>
          </p:cNvSpPr>
          <p:nvPr/>
        </p:nvSpPr>
        <p:spPr>
          <a:xfrm>
            <a:off x="77152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人工回源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裁決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B6CD80F-5494-42C8-9B96-261AA6B54B82}"/>
              </a:ext>
            </a:extLst>
          </p:cNvPr>
          <p:cNvSpPr>
            <a:spLocks noGrp="1"/>
          </p:cNvSpPr>
          <p:nvPr/>
        </p:nvSpPr>
        <p:spPr>
          <a:xfrm>
            <a:off x="10858500" y="2762250"/>
            <a:ext cx="495300" cy="49530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B83699-739D-4E17-885F-7D0976846333}"/>
              </a:ext>
            </a:extLst>
          </p:cNvPr>
          <p:cNvSpPr>
            <a:spLocks noGrp="1"/>
          </p:cNvSpPr>
          <p:nvPr/>
        </p:nvSpPr>
        <p:spPr>
          <a:xfrm>
            <a:off x="10858500" y="289560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0E5E224-7184-44F5-A19D-B34F21EBD7CE}"/>
              </a:ext>
            </a:extLst>
          </p:cNvPr>
          <p:cNvSpPr>
            <a:spLocks noGrp="1"/>
          </p:cNvSpPr>
          <p:nvPr/>
        </p:nvSpPr>
        <p:spPr>
          <a:xfrm>
            <a:off x="10191750" y="3486150"/>
            <a:ext cx="18288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保存版本</a:t>
            </a:r>
          </a:p>
          <a:p>
            <a:pPr algn="ctr">
              <a:defRPr sz="12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與理由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7B0321-E94E-4BBC-BE92-B5A1B94EA990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4AAF218-E393-4EAC-A15C-286C5C752D3B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D43BC3D-9A84-43C6-894A-90FDC8B033AF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B85E45"/>
                </a:solidFill>
                <a:latin typeface="Arial Unicode MS"/>
                <a:ea typeface="Arial Unicode MS"/>
                <a:cs typeface="Arial Unicode MS"/>
              </a:rPr>
              <a:t>同模型自評不是獨立驗證，多模型一致也不是事實證據</a:t>
            </a:r>
          </a:p>
        </p:txBody>
      </p:sp>
    </p:spTree>
    <p:extLst>
      <p:ext uri="{BB962C8B-B14F-4D97-AF65-F5344CB8AC3E}">
        <p14:creationId xmlns:p14="http://schemas.microsoft.com/office/powerpoint/2010/main" val="123508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79D7AF4-6D16-4A69-9D69-DC95FCD273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3E2C02-E918-4C03-BADF-22BDFE470DDB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單元五｜示範與發布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B4811-F416-4090-986A-E771A9ABA6CD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講者預備的示範項目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710CABDE-F2CD-41CB-8DE5-A54990BAEB73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A4E596-9D3E-460B-8760-76DF9C16485E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3F223B-7BE6-4BE4-8227-62882F4C454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8EED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B1DCA2-5D91-4F70-98C0-4671940C715A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待核</a:t>
            </a:r>
          </a:p>
        </p:txBody>
      </p:sp>
      <p:graphicFrame>
        <p:nvGraphicFramePr>
          <p:cNvPr id="19" name="表格 18"/>
          <p:cNvGraphicFramePr/>
          <p:nvPr>
            <p:extLst>
              <p:ext uri="{D42A27DB-BD31-4B8C-83A1-F6EECF244321}">
                <p14:modId xmlns:p14="http://schemas.microsoft.com/office/powerpoint/2010/main" val="3738727366"/>
              </p:ext>
            </p:extLst>
          </p:nvPr>
        </p:nvGraphicFramePr>
        <p:xfrm>
          <a:off x="628650" y="1714500"/>
          <a:ext cx="10896600" cy="3333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示範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內容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目前狀態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Codex 外掛互批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同一段落由兩模型審查，輸出四欄表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待講者試跑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Notion 投稿庫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去識別後的實際畫面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待講者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自架語音轉寫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只使用假音檔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待講者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自動化外掛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功能與適用範圍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安裝文件待製作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F9D04FC0-1014-4B92-B3ED-27351ACCE666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249C3F-CAB8-4313-8DF4-1BC1BCD210B3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669C841-AFDF-4B58-9720-1DCA57337989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現場示範前先用完整流程試跑一次</a:t>
            </a:r>
          </a:p>
        </p:txBody>
      </p:sp>
    </p:spTree>
    <p:extLst>
      <p:ext uri="{BB962C8B-B14F-4D97-AF65-F5344CB8AC3E}">
        <p14:creationId xmlns:p14="http://schemas.microsoft.com/office/powerpoint/2010/main" val="20465078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4B3255EC-AF73-457D-9F3A-D73E2FD709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65DC40-EED3-434F-977C-16D960E3C5E2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單元五｜示範與發布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9EB176-781A-4337-BEA6-A334EB26A3AE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文件散布前檢查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29F391E3-2B5A-48C6-92C2-032D0EC278B8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540258-0A1D-4577-B46A-A022E803D870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44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378E74DB-22B7-4A18-9654-F2D6702E7AF1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C27E925-043A-40A6-A747-A185297257E5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ADD07E-8C2A-4DE5-AA65-54B3646B8E2D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移除 API 金鑰、權杖、帳號與個人路徑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86E77CB-B4FA-42CB-A053-022CE4AF487B}"/>
              </a:ext>
            </a:extLst>
          </p:cNvPr>
          <p:cNvSpPr>
            <a:spLocks noGrp="1"/>
          </p:cNvSpPr>
          <p:nvPr/>
        </p:nvSpPr>
        <p:spPr>
          <a:xfrm>
            <a:off x="800100" y="24193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BCABC5-037D-434D-8794-41B6F796710A}"/>
              </a:ext>
            </a:extLst>
          </p:cNvPr>
          <p:cNvSpPr>
            <a:spLocks noGrp="1"/>
          </p:cNvSpPr>
          <p:nvPr/>
        </p:nvSpPr>
        <p:spPr>
          <a:xfrm>
            <a:off x="809625" y="24860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2E86A8-2E98-4F6B-9F9B-5EC0F1F6221A}"/>
              </a:ext>
            </a:extLst>
          </p:cNvPr>
          <p:cNvSpPr>
            <a:spLocks noGrp="1"/>
          </p:cNvSpPr>
          <p:nvPr/>
        </p:nvSpPr>
        <p:spPr>
          <a:xfrm>
            <a:off x="1352550" y="24003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標示版本、日期、授權與使用限制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1E69C72-0564-4500-A84A-48876EEE0704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8AA55D-DF01-446D-B79D-F532584746E5}"/>
              </a:ext>
            </a:extLst>
          </p:cNvPr>
          <p:cNvSpPr>
            <a:spLocks noGrp="1"/>
          </p:cNvSpPr>
          <p:nvPr/>
        </p:nvSpPr>
        <p:spPr>
          <a:xfrm>
            <a:off x="809625" y="31146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38AF66-C771-4851-8B12-10230066B653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以乾淨環境從頭安裝一次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A9F6EB08-E51D-40C2-980D-DCF5A303E6D7}"/>
              </a:ext>
            </a:extLst>
          </p:cNvPr>
          <p:cNvSpPr>
            <a:spLocks noGrp="1"/>
          </p:cNvSpPr>
          <p:nvPr/>
        </p:nvSpPr>
        <p:spPr>
          <a:xfrm>
            <a:off x="800100" y="36766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535926-B02F-4F79-9004-767B2841FB50}"/>
              </a:ext>
            </a:extLst>
          </p:cNvPr>
          <p:cNvSpPr>
            <a:spLocks noGrp="1"/>
          </p:cNvSpPr>
          <p:nvPr/>
        </p:nvSpPr>
        <p:spPr>
          <a:xfrm>
            <a:off x="809625" y="37433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7E4F4D-860D-4F84-ABE9-07F179B06961}"/>
              </a:ext>
            </a:extLst>
          </p:cNvPr>
          <p:cNvSpPr>
            <a:spLocks noGrp="1"/>
          </p:cNvSpPr>
          <p:nvPr/>
        </p:nvSpPr>
        <p:spPr>
          <a:xfrm>
            <a:off x="1352550" y="36576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清楚列出依賴套件與最低環境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B4E2B62A-7C09-4823-BE0E-95B096EE274A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323850" cy="3238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DFAAB3C-3227-453D-A996-4CCF0961FAEB}"/>
              </a:ext>
            </a:extLst>
          </p:cNvPr>
          <p:cNvSpPr>
            <a:spLocks noGrp="1"/>
          </p:cNvSpPr>
          <p:nvPr/>
        </p:nvSpPr>
        <p:spPr>
          <a:xfrm>
            <a:off x="809625" y="43719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7191F2-4240-4241-8451-C197731B13F4}"/>
              </a:ext>
            </a:extLst>
          </p:cNvPr>
          <p:cNvSpPr>
            <a:spLocks noGrp="1"/>
          </p:cNvSpPr>
          <p:nvPr/>
        </p:nvSpPr>
        <p:spPr>
          <a:xfrm>
            <a:off x="1352550" y="42862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只提供假資料與安全的範例設定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C0DC3B-99AA-4280-8F8D-73C67E02ACF5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3D0892-A9DF-4F39-8B98-4C71530656F0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9CB42E-EFD5-45AF-AED7-081F958EB513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公開文件前先做一次敏感資訊掃描</a:t>
            </a:r>
          </a:p>
        </p:txBody>
      </p:sp>
    </p:spTree>
    <p:extLst>
      <p:ext uri="{BB962C8B-B14F-4D97-AF65-F5344CB8AC3E}">
        <p14:creationId xmlns:p14="http://schemas.microsoft.com/office/powerpoint/2010/main" val="1039802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68E7E8CE-E75C-4576-B361-073B22C138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1DE7A4-2FB5-4D64-810B-8075CAE70127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單元五｜修訂與回覆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B9A816-0D3D-43C6-8152-2E1A192598FB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回覆審查意見的逐條表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3E62B868-6541-4AC3-B31E-BB6013CE374D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787458-4FC4-4FA6-A585-85B395D77EC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45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363732897"/>
              </p:ext>
            </p:extLst>
          </p:nvPr>
        </p:nvGraphicFramePr>
        <p:xfrm>
          <a:off x="628650" y="1714500"/>
          <a:ext cx="10896600" cy="30480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審查意見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作者回應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修改位置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證據與裁決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逐字貼入原意見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說明同意、不同意或部分採納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頁碼、段落或行號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原文、資料或方法理由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若不認同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以證據回應，不迴避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標示未修改處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交代為何保留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AI 協助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整理表格與檢查語氣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不代替作者判斷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先查該刊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AI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規範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1952494-BBDA-4C59-8737-3033C1B13EA3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F9ABDE-D652-45D5-B32C-BBEEE35BF7CC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CA94A81-5725-4FF9-9E32-6DBF8CC510B4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修稿後再做一次引用三層查核</a:t>
            </a:r>
          </a:p>
        </p:txBody>
      </p:sp>
    </p:spTree>
    <p:extLst>
      <p:ext uri="{BB962C8B-B14F-4D97-AF65-F5344CB8AC3E}">
        <p14:creationId xmlns:p14="http://schemas.microsoft.com/office/powerpoint/2010/main" val="17526723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F314B38-E7AF-4A8B-BBBB-FC42E42972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D54904-D42E-4BA5-9738-7A4C9E3EF9DD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收束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361521-97EA-40D4-9F90-4320D91E59FB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聽眾行動清單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49858369-5BC6-4194-9A95-55F9563AD655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90B7C3-D742-4243-A42B-E7143F4D5621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46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3450842790"/>
              </p:ext>
            </p:extLst>
          </p:nvPr>
        </p:nvGraphicFramePr>
        <p:xfrm>
          <a:off x="628650" y="1714500"/>
          <a:ext cx="10896600" cy="3905251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893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時點</a:t>
                      </a:r>
                      <a:endParaRPr sz="2000" b="1" dirty="0">
                        <a:solidFill>
                          <a:srgbClr val="FFFFFF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行動</a:t>
                      </a:r>
                    </a:p>
                  </a:txBody>
                  <a:tcPr marL="85725" marR="85725" marT="57150" marB="57150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本週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確認本校倫理程序與收件時間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開學前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同意書涵蓋錄音與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AI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處理，完成試錄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執行中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每次上課後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24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小時內補日誌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學期末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備份資料並固定編碼本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結案前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核對結案、公開與契約期限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893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投稿前</a:t>
                      </a: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讀目標刊</a:t>
                      </a:r>
                      <a:r>
                        <a:rPr sz="2000" dirty="0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 </a:t>
                      </a:r>
                      <a:r>
                        <a:rPr sz="2000" dirty="0" err="1">
                          <a:solidFill>
                            <a:srgbClr val="16212B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AI、倫理與已公開報告政策</a:t>
                      </a:r>
                      <a:endParaRPr sz="2000" dirty="0">
                        <a:solidFill>
                          <a:srgbClr val="16212B"/>
                        </a:solidFill>
                        <a:latin typeface="Arial Unicode MS"/>
                        <a:ea typeface="Arial Unicode MS"/>
                        <a:cs typeface="Arial Unicode MS"/>
                      </a:endParaRPr>
                    </a:p>
                  </a:txBody>
                  <a:tcPr marL="85725" marR="85725" marT="57150" marB="57150" anchor="ctr">
                    <a:solidFill>
                      <a:srgbClr val="E6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35E4FACB-0B30-48E8-A35D-86621FC61484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10668000" cy="4000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696D68-590E-4E4A-AF2D-42E5CE50E897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66675" cy="400050"/>
          </a:xfrm>
          <a:prstGeom prst="rect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9E8FD4-F8A8-46B9-9275-635A105EB27C}"/>
              </a:ext>
            </a:extLst>
          </p:cNvPr>
          <p:cNvSpPr>
            <a:spLocks noGrp="1"/>
          </p:cNvSpPr>
          <p:nvPr/>
        </p:nvSpPr>
        <p:spPr>
          <a:xfrm>
            <a:off x="990600" y="6038850"/>
            <a:ext cx="1022985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125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37D5A"/>
                </a:solidFill>
                <a:latin typeface="Arial Unicode MS"/>
                <a:ea typeface="Arial Unicode MS"/>
                <a:cs typeface="Arial Unicode MS"/>
              </a:rPr>
              <a:t>每個時點只保留一個不可遺漏的動作</a:t>
            </a:r>
          </a:p>
        </p:txBody>
      </p:sp>
    </p:spTree>
    <p:extLst>
      <p:ext uri="{BB962C8B-B14F-4D97-AF65-F5344CB8AC3E}">
        <p14:creationId xmlns:p14="http://schemas.microsoft.com/office/powerpoint/2010/main" val="5386541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E4AD558-AFF9-480C-988D-B05F5AF422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133D0C-98E1-432B-9C41-15525BC1CD9F}"/>
              </a:ext>
            </a:extLst>
          </p:cNvPr>
          <p:cNvSpPr>
            <a:spLocks noGrp="1"/>
          </p:cNvSpPr>
          <p:nvPr/>
        </p:nvSpPr>
        <p:spPr>
          <a:xfrm>
            <a:off x="590550" y="400050"/>
            <a:ext cx="723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收束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43EF15-54E8-4740-8D44-4BDB6965DBA3}"/>
              </a:ext>
            </a:extLst>
          </p:cNvPr>
          <p:cNvSpPr>
            <a:spLocks noGrp="1"/>
          </p:cNvSpPr>
          <p:nvPr/>
        </p:nvSpPr>
        <p:spPr>
          <a:xfrm>
            <a:off x="590550" y="781050"/>
            <a:ext cx="1028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正式使用前的待核清單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9C11997-3287-41D9-A164-D430EAB563B1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10991850" cy="9525"/>
          </a:xfrm>
          <a:prstGeom prst="line">
            <a:avLst/>
          </a:prstGeom>
          <a:noFill/>
          <a:ln w="9525">
            <a:solidFill>
              <a:srgbClr val="D7DEE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666834-9CE1-4735-B591-21579DC01643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D82BBA7-CFFA-41DC-8C59-EAA45666849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162050" cy="247650"/>
          </a:xfrm>
          <a:prstGeom prst="rect">
            <a:avLst/>
          </a:prstGeom>
          <a:solidFill>
            <a:srgbClr val="F8EED7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C9ED04-7FFF-44DD-ABDC-22713B357725}"/>
              </a:ext>
            </a:extLst>
          </p:cNvPr>
          <p:cNvSpPr>
            <a:spLocks noGrp="1"/>
          </p:cNvSpPr>
          <p:nvPr/>
        </p:nvSpPr>
        <p:spPr>
          <a:xfrm>
            <a:off x="9963150" y="419100"/>
            <a:ext cx="100965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待核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E90C860B-C1D5-44E6-B869-B9A3E93D847E}"/>
              </a:ext>
            </a:extLst>
          </p:cNvPr>
          <p:cNvSpPr>
            <a:spLocks noGrp="1"/>
          </p:cNvSpPr>
          <p:nvPr/>
        </p:nvSpPr>
        <p:spPr>
          <a:xfrm>
            <a:off x="800100" y="179070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46F851-310B-48F4-B624-D4AE50D0883F}"/>
              </a:ext>
            </a:extLst>
          </p:cNvPr>
          <p:cNvSpPr>
            <a:spLocks noGrp="1"/>
          </p:cNvSpPr>
          <p:nvPr/>
        </p:nvSpPr>
        <p:spPr>
          <a:xfrm>
            <a:off x="809625" y="18573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E15503-0ABF-442E-874B-9B42702CE19B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兩本國內期刊的現況與最新收錄狀態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B17D614-C421-49C0-9A7C-34E3D657F2B8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23850" cy="3238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21A65A-40A3-4196-BB97-E7F43BA7B442}"/>
              </a:ext>
            </a:extLst>
          </p:cNvPr>
          <p:cNvSpPr>
            <a:spLocks noGrp="1"/>
          </p:cNvSpPr>
          <p:nvPr/>
        </p:nvSpPr>
        <p:spPr>
          <a:xfrm>
            <a:off x="809625" y="24098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2A72A1-DF80-4761-BBAC-6ABCB7AB1271}"/>
              </a:ext>
            </a:extLst>
          </p:cNvPr>
          <p:cNvSpPr>
            <a:spLocks noGrp="1"/>
          </p:cNvSpPr>
          <p:nvPr/>
        </p:nvSpPr>
        <p:spPr>
          <a:xfrm>
            <a:off x="1352550" y="23241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TREND、COREQ、SRQR 的正式出處與版本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89C8801-5447-4DF6-9072-F219BCCB13CF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323850" cy="3238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9AC270-266C-4A1D-8006-A21905186470}"/>
              </a:ext>
            </a:extLst>
          </p:cNvPr>
          <p:cNvSpPr>
            <a:spLocks noGrp="1"/>
          </p:cNvSpPr>
          <p:nvPr/>
        </p:nvSpPr>
        <p:spPr>
          <a:xfrm>
            <a:off x="809625" y="29622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FB7753-7934-458A-BEF4-2F6FFAC780F3}"/>
              </a:ext>
            </a:extLst>
          </p:cNvPr>
          <p:cNvSpPr>
            <a:spLocks noGrp="1"/>
          </p:cNvSpPr>
          <p:nvPr/>
        </p:nvSpPr>
        <p:spPr>
          <a:xfrm>
            <a:off x="1352550" y="28765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 dirty="0" err="1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國語、台語與中英夾雜的語音試測</a:t>
            </a:r>
            <a:endParaRPr sz="2000" b="0" dirty="0">
              <a:solidFill>
                <a:srgbClr val="16212B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F52CA0DF-D3C6-49A0-B4DC-627887BFE474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323850" cy="3238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6E5D0A-1E62-4D8E-B96B-10EFF04502C5}"/>
              </a:ext>
            </a:extLst>
          </p:cNvPr>
          <p:cNvSpPr>
            <a:spLocks noGrp="1"/>
          </p:cNvSpPr>
          <p:nvPr/>
        </p:nvSpPr>
        <p:spPr>
          <a:xfrm>
            <a:off x="809625" y="35147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5EAB5D-6207-4597-AD67-7EE89A2BC185}"/>
              </a:ext>
            </a:extLst>
          </p:cNvPr>
          <p:cNvSpPr>
            <a:spLocks noGrp="1"/>
          </p:cNvSpPr>
          <p:nvPr/>
        </p:nvSpPr>
        <p:spPr>
          <a:xfrm>
            <a:off x="1352550" y="34290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錄音硬體與自架示範設定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7C77D70F-F36E-41A5-91AB-6BB3E7BE5B27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323850" cy="323850"/>
          </a:xfrm>
          <a:prstGeom prst="ellipse">
            <a:avLst/>
          </a:prstGeom>
          <a:solidFill>
            <a:srgbClr val="537D5A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6A8A43F-AB45-4589-B73A-722195270FF5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B8EC1F-9C66-41C4-90DC-F642DDB2ECDE}"/>
              </a:ext>
            </a:extLst>
          </p:cNvPr>
          <p:cNvSpPr>
            <a:spLocks noGrp="1"/>
          </p:cNvSpPr>
          <p:nvPr/>
        </p:nvSpPr>
        <p:spPr>
          <a:xfrm>
            <a:off x="1352550" y="398145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Transfer Desk 的實際條件與本校窗口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54E2B90E-8857-4568-9C22-A39980D3F239}"/>
              </a:ext>
            </a:extLst>
          </p:cNvPr>
          <p:cNvSpPr>
            <a:spLocks noGrp="1"/>
          </p:cNvSpPr>
          <p:nvPr/>
        </p:nvSpPr>
        <p:spPr>
          <a:xfrm>
            <a:off x="800100" y="4552950"/>
            <a:ext cx="323850" cy="3238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D0AAD15-16EB-4233-9D76-12F011AC8924}"/>
              </a:ext>
            </a:extLst>
          </p:cNvPr>
          <p:cNvSpPr>
            <a:spLocks noGrp="1"/>
          </p:cNvSpPr>
          <p:nvPr/>
        </p:nvSpPr>
        <p:spPr>
          <a:xfrm>
            <a:off x="809625" y="4619625"/>
            <a:ext cx="3048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F4A0AB-AECF-4FC6-978C-9DFA19CC2870}"/>
              </a:ext>
            </a:extLst>
          </p:cNvPr>
          <p:cNvSpPr>
            <a:spLocks noGrp="1"/>
          </p:cNvSpPr>
          <p:nvPr/>
        </p:nvSpPr>
        <p:spPr>
          <a:xfrm>
            <a:off x="1352550" y="4533900"/>
            <a:ext cx="10020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00" b="0">
                <a:solidFill>
                  <a:srgbClr val="16212B"/>
                </a:solidFill>
                <a:latin typeface="Arial Unicode MS"/>
                <a:ea typeface="Arial Unicode MS"/>
                <a:cs typeface="Arial Unicode MS"/>
              </a:rPr>
              <a:t>簽約文件是否另有期中報告等義務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3AFCC90-5C1C-4E58-8329-8DE32D074B8C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10668000" cy="590550"/>
          </a:xfrm>
          <a:prstGeom prst="rect">
            <a:avLst/>
          </a:prstGeom>
          <a:solidFill>
            <a:srgbClr val="F6E7E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CAEC95B-3715-46CC-8B4E-945575394B47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66675" cy="590550"/>
          </a:xfrm>
          <a:prstGeom prst="rect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0BA8DFC-0F4A-418F-A9E8-93482FDD15E3}"/>
              </a:ext>
            </a:extLst>
          </p:cNvPr>
          <p:cNvSpPr>
            <a:spLocks noGrp="1"/>
          </p:cNvSpPr>
          <p:nvPr/>
        </p:nvSpPr>
        <p:spPr>
          <a:xfrm>
            <a:off x="990600" y="5276850"/>
            <a:ext cx="102298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C48B2F"/>
                </a:solidFill>
                <a:latin typeface="Arial Unicode MS"/>
                <a:ea typeface="Arial Unicode MS"/>
                <a:cs typeface="Arial Unicode MS"/>
              </a:rPr>
              <a:t>待核項目不要在台上改寫成已確認事實</a:t>
            </a:r>
          </a:p>
        </p:txBody>
      </p:sp>
    </p:spTree>
    <p:extLst>
      <p:ext uri="{BB962C8B-B14F-4D97-AF65-F5344CB8AC3E}">
        <p14:creationId xmlns:p14="http://schemas.microsoft.com/office/powerpoint/2010/main" val="1628666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A463F617-C7BF-4672-A0BC-AE48A0D2C541}"/>
              </a:ext>
            </a:extLst>
          </p:cNvPr>
          <p:cNvSpPr>
            <a:spLocks noGrp="1"/>
          </p:cNvSpPr>
          <p:nvPr/>
        </p:nvSpPr>
        <p:spPr>
          <a:xfrm>
            <a:off x="895350" y="990600"/>
            <a:ext cx="85725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下一個可追蹤的行動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F007A9-5E7E-4858-A507-4F0F6C5B1C5E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9334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把執行證據留下來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D36472-2B8E-4C11-8C1E-EFE3AD84DC35}"/>
              </a:ext>
            </a:extLst>
          </p:cNvPr>
          <p:cNvSpPr>
            <a:spLocks noGrp="1"/>
          </p:cNvSpPr>
          <p:nvPr/>
        </p:nvSpPr>
        <p:spPr>
          <a:xfrm>
            <a:off x="895350" y="3238500"/>
            <a:ext cx="93345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00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DDE8EF"/>
                </a:solidFill>
                <a:latin typeface="Arial Unicode MS"/>
                <a:ea typeface="Arial Unicode MS"/>
                <a:cs typeface="Arial Unicode MS"/>
              </a:rPr>
              <a:t>研究品質不只發生在投稿前，而是從第一筆同意、第一堂課與第一份日誌開始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6F73C860-EE8A-4D1B-9DC3-32F81AAC02BA}"/>
              </a:ext>
            </a:extLst>
          </p:cNvPr>
          <p:cNvSpPr>
            <a:spLocks noGrp="1"/>
          </p:cNvSpPr>
          <p:nvPr/>
        </p:nvSpPr>
        <p:spPr>
          <a:xfrm>
            <a:off x="952500" y="4953000"/>
            <a:ext cx="171450" cy="171450"/>
          </a:xfrm>
          <a:prstGeom prst="ellipse">
            <a:avLst/>
          </a:prstGeom>
          <a:solidFill>
            <a:srgbClr val="2A8A80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364AC9-B172-4529-BB98-2F5BDA4848C7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本週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E4B9284-3B79-4FEA-88F6-EEE75264C7CB}"/>
              </a:ext>
            </a:extLst>
          </p:cNvPr>
          <p:cNvSpPr>
            <a:spLocks noGrp="1"/>
          </p:cNvSpPr>
          <p:nvPr/>
        </p:nvSpPr>
        <p:spPr>
          <a:xfrm>
            <a:off x="3333750" y="4953000"/>
            <a:ext cx="171450" cy="171450"/>
          </a:xfrm>
          <a:prstGeom prst="ellipse">
            <a:avLst/>
          </a:prstGeom>
          <a:solidFill>
            <a:srgbClr val="C48B2F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878AF3-3254-4D57-A832-69FF1F14D69C}"/>
              </a:ext>
            </a:extLst>
          </p:cNvPr>
          <p:cNvSpPr>
            <a:spLocks noGrp="1"/>
          </p:cNvSpPr>
          <p:nvPr/>
        </p:nvSpPr>
        <p:spPr>
          <a:xfrm>
            <a:off x="3619500" y="4895850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開學前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15604F9-5235-4FBD-9B4C-5FD855ECF999}"/>
              </a:ext>
            </a:extLst>
          </p:cNvPr>
          <p:cNvSpPr>
            <a:spLocks noGrp="1"/>
          </p:cNvSpPr>
          <p:nvPr/>
        </p:nvSpPr>
        <p:spPr>
          <a:xfrm>
            <a:off x="5715000" y="4953000"/>
            <a:ext cx="171450" cy="171450"/>
          </a:xfrm>
          <a:prstGeom prst="ellipse">
            <a:avLst/>
          </a:prstGeom>
          <a:solidFill>
            <a:srgbClr val="356FA1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A7B6F5-292D-4657-BDB0-FBEAE1607835}"/>
              </a:ext>
            </a:extLst>
          </p:cNvPr>
          <p:cNvSpPr>
            <a:spLocks noGrp="1"/>
          </p:cNvSpPr>
          <p:nvPr/>
        </p:nvSpPr>
        <p:spPr>
          <a:xfrm>
            <a:off x="6000750" y="4895850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執行中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9219D5A-660A-42F2-A385-960648F5BDE6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171450" cy="171450"/>
          </a:xfrm>
          <a:prstGeom prst="ellipse">
            <a:avLst/>
          </a:prstGeom>
          <a:solidFill>
            <a:srgbClr val="B85E45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CF7203-B8FF-4EB9-AC12-A88FF0AE8B7A}"/>
              </a:ext>
            </a:extLst>
          </p:cNvPr>
          <p:cNvSpPr>
            <a:spLocks noGrp="1"/>
          </p:cNvSpPr>
          <p:nvPr/>
        </p:nvSpPr>
        <p:spPr>
          <a:xfrm>
            <a:off x="8382000" y="4895850"/>
            <a:ext cx="1381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投稿前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ECC1C8-87C3-4833-BE1F-C0CFC7112E3E}"/>
              </a:ext>
            </a:extLst>
          </p:cNvPr>
          <p:cNvSpPr>
            <a:spLocks noGrp="1"/>
          </p:cNvSpPr>
          <p:nvPr/>
        </p:nvSpPr>
        <p:spPr>
          <a:xfrm>
            <a:off x="10325100" y="6096000"/>
            <a:ext cx="95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35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A8A80"/>
                </a:solidFill>
                <a:latin typeface="Arial Unicode MS"/>
                <a:ea typeface="Arial Unicode MS"/>
                <a:cs typeface="Arial Unicode MS"/>
              </a:rPr>
              <a:t>Q&amp;A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1E0FA1-8BDC-4CD7-96A7-B1DAB2EA1193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4953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0">
                <a:solidFill>
                  <a:srgbClr val="8997A1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50385387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Research Workflow">
      <a:dk1>
        <a:srgbClr val="000000"/>
      </a:dk1>
      <a:lt1>
        <a:srgbClr val="FFFFFF"/>
      </a:lt1>
      <a:dk2>
        <a:srgbClr val="0B1F33"/>
      </a:dk2>
      <a:lt2>
        <a:srgbClr val="D7DEE2"/>
      </a:lt2>
      <a:accent1>
        <a:srgbClr val="356FA1"/>
      </a:accent1>
      <a:accent2>
        <a:srgbClr val="2A8A80"/>
      </a:accent2>
      <a:accent3>
        <a:srgbClr val="C48B2F"/>
      </a:accent3>
      <a:accent4>
        <a:srgbClr val="B85E45"/>
      </a:accent4>
      <a:accent5>
        <a:srgbClr val="537D5A"/>
      </a:accent5>
      <a:accent6>
        <a:srgbClr val="5F6F7B"/>
      </a:accent6>
      <a:hlink>
        <a:srgbClr val="356FA1"/>
      </a:hlink>
      <a:folHlink>
        <a:srgbClr val="B85E4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search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Research Workflow">
      <a:dk1>
        <a:srgbClr val="000000"/>
      </a:dk1>
      <a:lt1>
        <a:srgbClr val="FFFFFF"/>
      </a:lt1>
      <a:dk2>
        <a:srgbClr val="0B1F33"/>
      </a:dk2>
      <a:lt2>
        <a:srgbClr val="D7DEE2"/>
      </a:lt2>
      <a:accent1>
        <a:srgbClr val="356FA1"/>
      </a:accent1>
      <a:accent2>
        <a:srgbClr val="2A8A80"/>
      </a:accent2>
      <a:accent3>
        <a:srgbClr val="C48B2F"/>
      </a:accent3>
      <a:accent4>
        <a:srgbClr val="B85E45"/>
      </a:accent4>
      <a:accent5>
        <a:srgbClr val="537D5A"/>
      </a:accent5>
      <a:accent6>
        <a:srgbClr val="5F6F7B"/>
      </a:accent6>
      <a:hlink>
        <a:srgbClr val="356FA1"/>
      </a:hlink>
      <a:folHlink>
        <a:srgbClr val="B85E4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search Workflo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</Words>
  <Application>Microsoft Macintosh PowerPoint</Application>
  <DocSecurity>0</DocSecurity>
  <PresentationFormat>寬螢幕</PresentationFormat>
  <Paragraphs>734</Paragraphs>
  <Slides>48</Slides>
  <Notes>48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48</vt:i4>
      </vt:variant>
    </vt:vector>
  </HeadingPairs>
  <TitlesOfParts>
    <vt:vector size="51" baseType="lpstr">
      <vt:lpstr>Arial Unicode MS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林文彥</cp:lastModifiedBy>
  <cp:revision>1</cp:revision>
  <dcterms:created xsi:type="dcterms:W3CDTF">2026-10-03T01:54:14Z</dcterms:created>
  <dcterms:modified xsi:type="dcterms:W3CDTF">2026-10-03T03:37:31Z</dcterms:modified>
</cp:coreProperties>
</file>